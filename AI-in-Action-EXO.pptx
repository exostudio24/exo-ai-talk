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cả nhà. Mình là Thông, founder EXO. 15 phút tới mình không nói lý thuyết AI — mình cho các bạn xem đúng những gì một studio nhỏ như tụi mình đang chạy mỗi ngày để đi từ ý tưởng ra doanh thu. Studio tụi mình không đông người, nhưng chạy như một team gấp 10 lần — nhờ AI làm cả workflow chứ không chỉ viết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Nhanh 30 giây về EXO. Tụi mình là app/game studio — tự làm sản phẩm native iOS/Android chứ không outsource. EXO đã phát hành hơn 100 app, có hơn 30 product partner trong và ngoài nước, phát hành ở hơn 150 thị trường. Team gọn — nên tụi mình BUỘC phải dùng AI như một đòn bẩy.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Nỗi đau ai làm studio cũng dính. Từ ý tưởng ra tiền có 5 cổ chai: viết code, test QA, bản địa hoá, làm creative quảng cáo, và tối ưu monetization. Studio nhỏ mà làm tuần tự thì chết. Câu hỏi: cổ chai nào giao được cho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Luận điểm chính: Giá trị thật của AI không nằm ở chỗ viết vài dòng code, mà ở chỗ tự động hoá CẢ MỘT WORKFLOW và tự sửa cho tới khi ra kết quả. Tiếp theo là 3 workflow đang chạy thật ở EXO: Xưởng App, Creative Production và UA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1 — Xưởng App — gộp hai mảnh. Một người KHÔNG BIẾT CODE mô tả app bằng ngôn ngữ tự nhiên; AI Agent viết code thật rồi chạy vòng lặp tự build — gặp lỗi compile thì AI Coding Agent tự đọc, tự sửa, build lại đến khi chạy. Mảnh thứ hai: build iOS/Android từ xa, mở simulator/emulator trong trình duyệt cạnh khung chat; PO bấm thẳng lên app, AI tự động QA. Ghép lại: từ ý tưởng ra app đã QA, sẵn sàng phát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Workflow 1 — Lingua, app học tiếng Anh, dựng trọn vẹn qua Xưởng App. Chỉ 3 ngày từ ý tưởng đến lên App Store. Từ khi lên store 28/04/2026, Lingua đạt gần 57 nghìn lượt tải, ROAS 111% — đã vượt điểm hoà vốn.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2 — Creative Production. Trước đây mỗi creative cần script, storyboard, quay dựng, chỉnh sửa. Bây giờ dùng AI đi từ insight sang nhiều hook, nhiều script, nhiều biến thể video. Các mô hình AI video (text-to-video) giúp sản xuất nhanh để test. Không cố đoán một video thắng; tạo nhiều giả thuyết và để dữ liệu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Workflow 2 — localize creative. Một creative gốc, dùng AI localize lời thoại, phụ đề và giọng đọc ra 20 ngôn ngữ, rồi test nhiều biến thể theo từng thị trường. Cách này tạo và test gấp khoảng 10 lần số creative so với làm tay; nhờ test nhiều rồi giữ lại hook rẻ nhất, CPI giảm khoảng 25%. Hai con số cải thiện này là ước lượng vận hành nội bộ.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3 — UA Agent. Khi creative bắt đầu chạy, vấn đề là theo dõi liên tục. Marketer không thể nhìn dashboard 24/7. UA Agent luôn thức: đọc số, phát hiện bất thường, tóm tắt nguyên nhân, gợi ý pause/scale/đổi bid/mở test mới. Quyết định cuối vẫn là của marketer.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 study Workflow 3. UA Agent trực số cho toàn bộ danh mục app EXO 24/7. Quy mô thật 30 ngày gần nhất: hơn 9 nghìn campaign trên 109 app cùng lúc, ROAS blend giữ ở 127%. Nhờ agent phát hiện bất thường và gợi ý pause/scale kịp thời, tối ưu được khoảng 15% ngân sách (ước lượng vận hành).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Ghép 3 workflow lại thì nó là một vòng lặp: ý tưởng thành app bằng Xưởng App, creative production tạo nhiên liệu, UA Agent đọc dữ liệu để tối ưu và scale. Dữ liệu từ quảng cáo và người dùng quay ngược lại nuôi ý tưởng vòng sau. Đó là From Data to Revenue — vòng khép kín mà AI bôi trơn từng khớp.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workflow mà không có số thì là kể chuyện. Tác động khi dùng AI ở cấp workflow: output trên mỗi người tăng ~10 lần dù team giữ nguyên size; thời gian ý tưởng→bản chạy giảm ~70%; hàng chục creative variant từ một insight; chi phí creative + QA giảm ~60%. Số thay đổi theo sản phẩm nhưng xu hướng rất rõ.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bài học. Một: AI thay CÔNG ĐOẠN, con người giữ QUYẾT ĐỊNH và GU. Hai: đầu tư vào WORKFLOW quan trọng hơn chạy theo model mới nhất. Ba: đừng tự động hoá lung tung — bắt đầu từ cổ chai ĐẮT NHẤT và ĐAU NHẤT của studio bạn.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Studio nhỏ, đòn bẩy AI lớn — đó là cả câu chuyện hôm nay. Nếu bạn là app/game studio, agency, hay đang xây tool AI và muốn nói chuyện, gặp mình ở networking hoặc quét QR. Cảm ơn BytePlus, SocialPeta và ThinkingAI đã tổ chức. Cảm ơn cả nhà.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2A"/>
        </a:solidFill>
      </p:bgPr>
    </p:bg>
    <p:spTree>
      <p:nvGrpSpPr>
        <p:cNvPr id="1" name=""/>
        <p:cNvGrpSpPr/>
        <p:nvPr/>
      </p:nvGrpSpPr>
      <p:grpSpPr>
        <a:xfrm>
          <a:off x="0" y="0"/>
          <a:ext cx="0" cy="0"/>
          <a:chOff x="0" y="0"/>
          <a:chExt cx="0" cy="0"/>
        </a:xfrm>
      </p:grpSpPr>
      <p:sp>
        <p:nvSpPr>
          <p:cNvPr id="2" name="Shape 0"/>
          <p:cNvSpPr/>
          <p:nvPr/>
        </p:nvSpPr>
        <p:spPr>
          <a:xfrm>
            <a:off x="548640" y="402336"/>
            <a:ext cx="91440" cy="91440"/>
          </a:xfrm>
          <a:prstGeom prst="ellipse">
            <a:avLst/>
          </a:prstGeom>
          <a:solidFill>
            <a:srgbClr val="38E0FF"/>
          </a:solidFill>
          <a:ln/>
        </p:spPr>
      </p:sp>
      <p:sp>
        <p:nvSpPr>
          <p:cNvPr id="3" name="Text 1"/>
          <p:cNvSpPr/>
          <p:nvPr/>
        </p:nvSpPr>
        <p:spPr>
          <a:xfrm>
            <a:off x="713232" y="310896"/>
            <a:ext cx="7315200" cy="274320"/>
          </a:xfrm>
          <a:prstGeom prst="rect">
            <a:avLst/>
          </a:prstGeom>
          <a:noFill/>
          <a:ln/>
        </p:spPr>
        <p:txBody>
          <a:bodyPr wrap="square" lIns="0" tIns="0" rIns="0" bIns="0" rtlCol="0" anchor="ctr"/>
          <a:lstStyle/>
          <a:p>
            <a:pPr indent="0" marL="0">
              <a:buNone/>
            </a:pPr>
            <a:r>
              <a:rPr lang="en-US" sz="1100" b="1" spc="200" kern="0" dirty="0">
                <a:solidFill>
                  <a:srgbClr val="38E0FF"/>
                </a:solidFill>
                <a:latin typeface="Arial" pitchFamily="34" charset="0"/>
                <a:ea typeface="Arial" pitchFamily="34" charset="-122"/>
                <a:cs typeface="Arial" pitchFamily="34" charset="-120"/>
              </a:rPr>
              <a:t>AI IN ACTION · CASE STUDY</a:t>
            </a:r>
            <a:endParaRPr lang="en-US" sz="1100" dirty="0"/>
          </a:p>
        </p:txBody>
      </p:sp>
      <p:sp>
        <p:nvSpPr>
          <p:cNvPr id="4" name="Text 2"/>
          <p:cNvSpPr/>
          <p:nvPr/>
        </p:nvSpPr>
        <p:spPr>
          <a:xfrm>
            <a:off x="548640" y="1234440"/>
            <a:ext cx="8046720" cy="914400"/>
          </a:xfrm>
          <a:prstGeom prst="rect">
            <a:avLst/>
          </a:prstGeom>
          <a:noFill/>
          <a:ln/>
        </p:spPr>
        <p:txBody>
          <a:bodyPr wrap="square" lIns="0" tIns="0" rIns="0" bIns="0" rtlCol="0" anchor="t"/>
          <a:lstStyle/>
          <a:p>
            <a:pPr indent="0" marL="0">
              <a:lnSpc>
                <a:spcPct val="102000"/>
              </a:lnSpc>
              <a:buNone/>
            </a:pPr>
            <a:r>
              <a:rPr lang="en-US" sz="4000" b="1" dirty="0">
                <a:solidFill>
                  <a:srgbClr val="F6F8FF"/>
                </a:solidFill>
                <a:latin typeface="Arial" pitchFamily="34" charset="0"/>
                <a:ea typeface="Arial" pitchFamily="34" charset="-122"/>
                <a:cs typeface="Arial" pitchFamily="34" charset="-120"/>
              </a:rPr>
              <a:t>Real-World Workflows</a:t>
            </a:r>
            <a:endParaRPr lang="en-US" sz="4000" dirty="0"/>
          </a:p>
          <a:p>
            <a:pPr indent="0" marL="0">
              <a:lnSpc>
                <a:spcPct val="102000"/>
              </a:lnSpc>
              <a:buNone/>
            </a:pPr>
            <a:r>
              <a:rPr lang="en-US" sz="4000" b="1" dirty="0">
                <a:solidFill>
                  <a:srgbClr val="38E0FF"/>
                </a:solidFill>
                <a:latin typeface="Arial" pitchFamily="34" charset="0"/>
                <a:ea typeface="Arial" pitchFamily="34" charset="-122"/>
                <a:cs typeface="Arial" pitchFamily="34" charset="-120"/>
              </a:rPr>
              <a:t>for App &amp; Game Studios</a:t>
            </a:r>
            <a:endParaRPr lang="en-US" sz="4000" dirty="0"/>
          </a:p>
        </p:txBody>
      </p:sp>
      <p:sp>
        <p:nvSpPr>
          <p:cNvPr id="5" name="Text 3"/>
          <p:cNvSpPr/>
          <p:nvPr/>
        </p:nvSpPr>
        <p:spPr>
          <a:xfrm>
            <a:off x="548640" y="2788920"/>
            <a:ext cx="7680960" cy="777240"/>
          </a:xfrm>
          <a:prstGeom prst="rect">
            <a:avLst/>
          </a:prstGeom>
          <a:noFill/>
          <a:ln/>
        </p:spPr>
        <p:txBody>
          <a:bodyPr wrap="square" lIns="0" tIns="0" rIns="0" bIns="0" rtlCol="0" anchor="t"/>
          <a:lstStyle/>
          <a:p>
            <a:pPr indent="0" marL="0">
              <a:lnSpc>
                <a:spcPct val="118000"/>
              </a:lnSpc>
              <a:buNone/>
            </a:pPr>
            <a:r>
              <a:rPr lang="en-US" sz="1350" dirty="0">
                <a:solidFill>
                  <a:srgbClr val="9AA6C7"/>
                </a:solidFill>
                <a:latin typeface="Arial" pitchFamily="34" charset="0"/>
                <a:ea typeface="Arial" pitchFamily="34" charset="-122"/>
                <a:cs typeface="Arial" pitchFamily="34" charset="-120"/>
              </a:rPr>
              <a:t>Cách một studio nhỏ dùng AI để đi từ </a:t>
            </a:r>
            <a:pPr indent="0" marL="0">
              <a:lnSpc>
                <a:spcPct val="118000"/>
              </a:lnSpc>
              <a:buNone/>
            </a:pPr>
            <a:r>
              <a:rPr lang="en-US" sz="1350" b="1" dirty="0">
                <a:solidFill>
                  <a:srgbClr val="FFFFFF"/>
                </a:solidFill>
                <a:latin typeface="Arial" pitchFamily="34" charset="0"/>
                <a:ea typeface="Arial" pitchFamily="34" charset="-122"/>
                <a:cs typeface="Arial" pitchFamily="34" charset="-120"/>
              </a:rPr>
              <a:t>ý tưởng → app → thị trường → doanh thu</a:t>
            </a:r>
            <a:pPr indent="0" marL="0">
              <a:lnSpc>
                <a:spcPct val="118000"/>
              </a:lnSpc>
              <a:buNone/>
            </a:pPr>
            <a:r>
              <a:rPr lang="en-US" sz="1350" dirty="0">
                <a:solidFill>
                  <a:srgbClr val="9AA6C7"/>
                </a:solidFill>
                <a:latin typeface="Arial" pitchFamily="34" charset="0"/>
                <a:ea typeface="Arial" pitchFamily="34" charset="-122"/>
                <a:cs typeface="Arial" pitchFamily="34" charset="-120"/>
              </a:rPr>
              <a:t> — bằng những workflow đang chạy thật mỗi ngày.</a:t>
            </a:r>
            <a:endParaRPr lang="en-US" sz="1350" dirty="0"/>
          </a:p>
        </p:txBody>
      </p:sp>
      <p:sp>
        <p:nvSpPr>
          <p:cNvPr id="6" name="Text 4"/>
          <p:cNvSpPr/>
          <p:nvPr/>
        </p:nvSpPr>
        <p:spPr>
          <a:xfrm>
            <a:off x="548640" y="4114800"/>
            <a:ext cx="5029200" cy="640080"/>
          </a:xfrm>
          <a:prstGeom prst="rect">
            <a:avLst/>
          </a:prstGeom>
          <a:noFill/>
          <a:ln/>
        </p:spPr>
        <p:txBody>
          <a:bodyPr wrap="square" lIns="0" tIns="0" rIns="0" bIns="0" rtlCol="0" anchor="t"/>
          <a:lstStyle/>
          <a:p>
            <a:pPr indent="0" marL="0">
              <a:lnSpc>
                <a:spcPct val="115000"/>
              </a:lnSpc>
              <a:buNone/>
            </a:pPr>
            <a:r>
              <a:rPr lang="en-US" sz="1700" b="1" dirty="0">
                <a:solidFill>
                  <a:srgbClr val="F6F8FF"/>
                </a:solidFill>
                <a:latin typeface="Arial" pitchFamily="34" charset="0"/>
                <a:ea typeface="Arial" pitchFamily="34" charset="-122"/>
                <a:cs typeface="Arial" pitchFamily="34" charset="-120"/>
              </a:rPr>
              <a:t>Lê Khánh Thông</a:t>
            </a:r>
            <a:endParaRPr lang="en-US" sz="1700" dirty="0"/>
          </a:p>
          <a:p>
            <a:pPr indent="0" marL="0">
              <a:lnSpc>
                <a:spcPct val="115000"/>
              </a:lnSpc>
              <a:buNone/>
            </a:pPr>
            <a:r>
              <a:rPr lang="en-US" sz="1200" dirty="0">
                <a:solidFill>
                  <a:srgbClr val="9AA6C7"/>
                </a:solidFill>
                <a:latin typeface="Arial" pitchFamily="34" charset="0"/>
                <a:ea typeface="Arial" pitchFamily="34" charset="-122"/>
                <a:cs typeface="Arial" pitchFamily="34" charset="-120"/>
              </a:rPr>
              <a:t>CEO &amp; Founder · EXO Technologies Global</a:t>
            </a:r>
            <a:endParaRPr lang="en-US" sz="1700" dirty="0"/>
          </a:p>
        </p:txBody>
      </p:sp>
      <p:sp>
        <p:nvSpPr>
          <p:cNvPr id="7" name="Text 5"/>
          <p:cNvSpPr/>
          <p:nvPr/>
        </p:nvSpPr>
        <p:spPr>
          <a:xfrm>
            <a:off x="4572000" y="4160520"/>
            <a:ext cx="4023360" cy="640080"/>
          </a:xfrm>
          <a:prstGeom prst="rect">
            <a:avLst/>
          </a:prstGeom>
          <a:noFill/>
          <a:ln/>
        </p:spPr>
        <p:txBody>
          <a:bodyPr wrap="square" lIns="0" tIns="0" rIns="0" bIns="0" rtlCol="0" anchor="t"/>
          <a:lstStyle/>
          <a:p>
            <a:pPr algn="r" indent="0" marL="0">
              <a:lnSpc>
                <a:spcPct val="120000"/>
              </a:lnSpc>
              <a:buNone/>
            </a:pPr>
            <a:r>
              <a:rPr lang="en-US" sz="1100" dirty="0">
                <a:solidFill>
                  <a:srgbClr val="9AA6C7"/>
                </a:solidFill>
                <a:latin typeface="Arial" pitchFamily="34" charset="0"/>
                <a:ea typeface="Arial" pitchFamily="34" charset="-122"/>
                <a:cs typeface="Arial" pitchFamily="34" charset="-120"/>
              </a:rPr>
              <a:t>Unlocking the AI App Growth Journey · 10.07.2026</a:t>
            </a:r>
            <a:endParaRPr lang="en-US" sz="1100" dirty="0"/>
          </a:p>
          <a:p>
            <a:pPr algn="r" indent="0" marL="0">
              <a:lnSpc>
                <a:spcPct val="120000"/>
              </a:lnSpc>
              <a:buNone/>
            </a:pPr>
            <a:r>
              <a:rPr lang="en-US" sz="1100" b="1" dirty="0">
                <a:solidFill>
                  <a:srgbClr val="DFE6FF"/>
                </a:solidFill>
                <a:latin typeface="Arial" pitchFamily="34" charset="0"/>
                <a:ea typeface="Arial" pitchFamily="34" charset="-122"/>
                <a:cs typeface="Arial" pitchFamily="34" charset="-120"/>
              </a:rPr>
              <a:t>BytePlus · SocialPeta · ThinkingAI</a:t>
            </a:r>
            <a:endParaRPr lang="en-US" sz="1100" dirty="0"/>
          </a:p>
        </p:txBody>
      </p:sp>
      <p:sp>
        <p:nvSpPr>
          <p:cNvPr id="9" name="Text 6"/>
          <p:cNvSpPr/>
          <p:nvPr/>
        </p:nvSpPr>
        <p:spPr>
          <a:xfrm>
            <a:off x="8321040" y="4828032"/>
            <a:ext cx="685800" cy="228600"/>
          </a:xfrm>
          <a:prstGeom prst="rect">
            <a:avLst/>
          </a:prstGeom>
          <a:noFill/>
          <a:ln/>
        </p:spPr>
        <p:txBody>
          <a:bodyPr wrap="square" lIns="0" tIns="0" rIns="0" bIns="0" rtlCol="0" anchor="ctr"/>
          <a:lstStyle/>
          <a:p>
            <a:pPr algn="r" indent="0" marL="0">
              <a:buNone/>
            </a:pPr>
            <a:r>
              <a:rPr lang="en-US" sz="900" dirty="0">
                <a:solidFill>
                  <a:srgbClr val="9AA6C7"/>
                </a:solidFill>
                <a:latin typeface="Arial" pitchFamily="34" charset="0"/>
                <a:ea typeface="Arial" pitchFamily="34" charset="-122"/>
                <a:cs typeface="Arial" pitchFamily="34" charset="-120"/>
              </a:rPr>
              <a:t>1 / 14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2A"/>
        </a:solidFill>
      </p:bgPr>
    </p:bg>
    <p:spTree>
      <p:nvGrpSpPr>
        <p:cNvPr id="1" name=""/>
        <p:cNvGrpSpPr/>
        <p:nvPr/>
      </p:nvGrpSpPr>
      <p:grpSpPr>
        <a:xfrm>
          <a:off x="0" y="0"/>
          <a:ext cx="0" cy="0"/>
          <a:chOff x="0" y="0"/>
          <a:chExt cx="0" cy="0"/>
        </a:xfrm>
      </p:grpSpPr>
      <p:sp>
        <p:nvSpPr>
          <p:cNvPr id="2" name="Shape 0"/>
          <p:cNvSpPr/>
          <p:nvPr/>
        </p:nvSpPr>
        <p:spPr>
          <a:xfrm>
            <a:off x="548640" y="402336"/>
            <a:ext cx="91440" cy="91440"/>
          </a:xfrm>
          <a:prstGeom prst="ellipse">
            <a:avLst/>
          </a:prstGeom>
          <a:solidFill>
            <a:srgbClr val="38E0FF"/>
          </a:solidFill>
          <a:ln/>
        </p:spPr>
      </p:sp>
      <p:sp>
        <p:nvSpPr>
          <p:cNvPr id="3" name="Text 1"/>
          <p:cNvSpPr/>
          <p:nvPr/>
        </p:nvSpPr>
        <p:spPr>
          <a:xfrm>
            <a:off x="713232" y="310896"/>
            <a:ext cx="7315200" cy="274320"/>
          </a:xfrm>
          <a:prstGeom prst="rect">
            <a:avLst/>
          </a:prstGeom>
          <a:noFill/>
          <a:ln/>
        </p:spPr>
        <p:txBody>
          <a:bodyPr wrap="square" lIns="0" tIns="0" rIns="0" bIns="0" rtlCol="0" anchor="ctr"/>
          <a:lstStyle/>
          <a:p>
            <a:pPr indent="0" marL="0">
              <a:buNone/>
            </a:pPr>
            <a:r>
              <a:rPr lang="en-US" sz="1100" b="1" spc="200" kern="0" dirty="0">
                <a:solidFill>
                  <a:srgbClr val="38E0FF"/>
                </a:solidFill>
                <a:latin typeface="Arial" pitchFamily="34" charset="0"/>
                <a:ea typeface="Arial" pitchFamily="34" charset="-122"/>
                <a:cs typeface="Arial" pitchFamily="34" charset="-120"/>
              </a:rPr>
              <a:t>CHÚNG TÔI LÀ AI</a:t>
            </a:r>
            <a:endParaRPr lang="en-US" sz="1100" dirty="0"/>
          </a:p>
        </p:txBody>
      </p:sp>
      <p:sp>
        <p:nvSpPr>
          <p:cNvPr id="4" name="Text 2"/>
          <p:cNvSpPr/>
          <p:nvPr/>
        </p:nvSpPr>
        <p:spPr>
          <a:xfrm>
            <a:off x="548640" y="676656"/>
            <a:ext cx="8046720" cy="914400"/>
          </a:xfrm>
          <a:prstGeom prst="rect">
            <a:avLst/>
          </a:prstGeom>
          <a:noFill/>
          <a:ln/>
        </p:spPr>
        <p:txBody>
          <a:bodyPr wrap="square" lIns="0" tIns="0" rIns="0" bIns="0" rtlCol="0" anchor="t"/>
          <a:lstStyle/>
          <a:p>
            <a:pPr indent="0" marL="0">
              <a:lnSpc>
                <a:spcPct val="102000"/>
              </a:lnSpc>
              <a:buNone/>
            </a:pPr>
            <a:r>
              <a:rPr lang="en-US" sz="3000" b="1" dirty="0">
                <a:solidFill>
                  <a:srgbClr val="F6F8FF"/>
                </a:solidFill>
                <a:latin typeface="Arial" pitchFamily="34" charset="0"/>
                <a:ea typeface="Arial" pitchFamily="34" charset="-122"/>
                <a:cs typeface="Arial" pitchFamily="34" charset="-120"/>
              </a:rPr>
              <a:t>EXO Technologies Global</a:t>
            </a:r>
            <a:endParaRPr lang="en-US" sz="3000" dirty="0"/>
          </a:p>
        </p:txBody>
      </p:sp>
      <p:sp>
        <p:nvSpPr>
          <p:cNvPr id="5" name="Text 3"/>
          <p:cNvSpPr/>
          <p:nvPr/>
        </p:nvSpPr>
        <p:spPr>
          <a:xfrm>
            <a:off x="548640" y="1554480"/>
            <a:ext cx="7863840" cy="777240"/>
          </a:xfrm>
          <a:prstGeom prst="rect">
            <a:avLst/>
          </a:prstGeom>
          <a:noFill/>
          <a:ln/>
        </p:spPr>
        <p:txBody>
          <a:bodyPr wrap="square" lIns="0" tIns="0" rIns="0" bIns="0" rtlCol="0" anchor="t"/>
          <a:lstStyle/>
          <a:p>
            <a:pPr indent="0" marL="0">
              <a:lnSpc>
                <a:spcPct val="118000"/>
              </a:lnSpc>
              <a:buNone/>
            </a:pPr>
            <a:r>
              <a:rPr lang="en-US" sz="1350" dirty="0">
                <a:solidFill>
                  <a:srgbClr val="9AA6C7"/>
                </a:solidFill>
                <a:latin typeface="Arial" pitchFamily="34" charset="0"/>
                <a:ea typeface="Arial" pitchFamily="34" charset="-122"/>
                <a:cs typeface="Arial" pitchFamily="34" charset="-120"/>
              </a:rPr>
              <a:t>App &amp; game studio — tự thiết kế, build và vận hành sản phẩm </a:t>
            </a:r>
            <a:pPr indent="0" marL="0">
              <a:lnSpc>
                <a:spcPct val="118000"/>
              </a:lnSpc>
              <a:buNone/>
            </a:pPr>
            <a:r>
              <a:rPr lang="en-US" sz="1350" b="1" dirty="0">
                <a:solidFill>
                  <a:srgbClr val="FFFFFF"/>
                </a:solidFill>
                <a:latin typeface="Arial" pitchFamily="34" charset="0"/>
                <a:ea typeface="Arial" pitchFamily="34" charset="-122"/>
                <a:cs typeface="Arial" pitchFamily="34" charset="-120"/>
              </a:rPr>
              <a:t>native iOS/Android</a:t>
            </a:r>
            <a:pPr indent="0" marL="0">
              <a:lnSpc>
                <a:spcPct val="118000"/>
              </a:lnSpc>
              <a:buNone/>
            </a:pPr>
            <a:r>
              <a:rPr lang="en-US" sz="1350" dirty="0">
                <a:solidFill>
                  <a:srgbClr val="9AA6C7"/>
                </a:solidFill>
                <a:latin typeface="Arial" pitchFamily="34" charset="0"/>
                <a:ea typeface="Arial" pitchFamily="34" charset="-122"/>
                <a:cs typeface="Arial" pitchFamily="34" charset="-120"/>
              </a:rPr>
              <a:t>, phát hành ra thị trường quốc tế.</a:t>
            </a:r>
            <a:endParaRPr lang="en-US" sz="1350" dirty="0"/>
          </a:p>
        </p:txBody>
      </p:sp>
      <p:sp>
        <p:nvSpPr>
          <p:cNvPr id="6" name="Text 4"/>
          <p:cNvSpPr/>
          <p:nvPr/>
        </p:nvSpPr>
        <p:spPr>
          <a:xfrm>
            <a:off x="548640" y="2834640"/>
            <a:ext cx="2407920" cy="1008993"/>
          </a:xfrm>
          <a:prstGeom prst="rect">
            <a:avLst/>
          </a:prstGeom>
          <a:noFill/>
          <a:ln/>
        </p:spPr>
        <p:txBody>
          <a:bodyPr wrap="square" lIns="0" tIns="0" rIns="0" bIns="0" rtlCol="0" anchor="t"/>
          <a:lstStyle/>
          <a:p>
            <a:pPr algn="l" indent="0" marL="0">
              <a:buNone/>
            </a:pPr>
            <a:r>
              <a:rPr lang="en-US" sz="6400" b="1" dirty="0">
                <a:solidFill>
                  <a:srgbClr val="38E0FF"/>
                </a:solidFill>
                <a:latin typeface="Arial" pitchFamily="34" charset="0"/>
                <a:ea typeface="Arial" pitchFamily="34" charset="-122"/>
                <a:cs typeface="Arial" pitchFamily="34" charset="-120"/>
              </a:rPr>
              <a:t>100+</a:t>
            </a:r>
            <a:endParaRPr lang="en-US" sz="6400" dirty="0"/>
          </a:p>
        </p:txBody>
      </p:sp>
      <p:sp>
        <p:nvSpPr>
          <p:cNvPr id="7" name="Text 5"/>
          <p:cNvSpPr/>
          <p:nvPr/>
        </p:nvSpPr>
        <p:spPr>
          <a:xfrm>
            <a:off x="548640" y="3861921"/>
            <a:ext cx="2407920" cy="566928"/>
          </a:xfrm>
          <a:prstGeom prst="rect">
            <a:avLst/>
          </a:prstGeom>
          <a:noFill/>
          <a:ln/>
        </p:spPr>
        <p:txBody>
          <a:bodyPr wrap="square" lIns="0" tIns="0" rIns="0" bIns="0" rtlCol="0" anchor="t"/>
          <a:lstStyle/>
          <a:p>
            <a:pPr algn="l" indent="0" marL="0">
              <a:lnSpc>
                <a:spcPct val="112000"/>
              </a:lnSpc>
              <a:buNone/>
            </a:pPr>
            <a:r>
              <a:rPr lang="en-US" sz="1150" dirty="0">
                <a:solidFill>
                  <a:srgbClr val="9AA6C7"/>
                </a:solidFill>
                <a:latin typeface="Arial" pitchFamily="34" charset="0"/>
                <a:ea typeface="Arial" pitchFamily="34" charset="-122"/>
                <a:cs typeface="Arial" pitchFamily="34" charset="-120"/>
              </a:rPr>
              <a:t>mobile app + games đã phát hành</a:t>
            </a:r>
            <a:endParaRPr lang="en-US" sz="1150" dirty="0"/>
          </a:p>
        </p:txBody>
      </p:sp>
      <p:sp>
        <p:nvSpPr>
          <p:cNvPr id="8" name="Text 6"/>
          <p:cNvSpPr/>
          <p:nvPr/>
        </p:nvSpPr>
        <p:spPr>
          <a:xfrm>
            <a:off x="3230880" y="2834640"/>
            <a:ext cx="2407920" cy="1008993"/>
          </a:xfrm>
          <a:prstGeom prst="rect">
            <a:avLst/>
          </a:prstGeom>
          <a:noFill/>
          <a:ln/>
        </p:spPr>
        <p:txBody>
          <a:bodyPr wrap="square" lIns="0" tIns="0" rIns="0" bIns="0" rtlCol="0" anchor="t"/>
          <a:lstStyle/>
          <a:p>
            <a:pPr algn="l" indent="0" marL="0">
              <a:buNone/>
            </a:pPr>
            <a:r>
              <a:rPr lang="en-US" sz="6400" b="1" dirty="0">
                <a:solidFill>
                  <a:srgbClr val="38E0FF"/>
                </a:solidFill>
                <a:latin typeface="Arial" pitchFamily="34" charset="0"/>
                <a:ea typeface="Arial" pitchFamily="34" charset="-122"/>
                <a:cs typeface="Arial" pitchFamily="34" charset="-120"/>
              </a:rPr>
              <a:t>30+</a:t>
            </a:r>
            <a:endParaRPr lang="en-US" sz="6400" dirty="0"/>
          </a:p>
        </p:txBody>
      </p:sp>
      <p:sp>
        <p:nvSpPr>
          <p:cNvPr id="9" name="Text 7"/>
          <p:cNvSpPr/>
          <p:nvPr/>
        </p:nvSpPr>
        <p:spPr>
          <a:xfrm>
            <a:off x="3230880" y="3861921"/>
            <a:ext cx="2407920" cy="566928"/>
          </a:xfrm>
          <a:prstGeom prst="rect">
            <a:avLst/>
          </a:prstGeom>
          <a:noFill/>
          <a:ln/>
        </p:spPr>
        <p:txBody>
          <a:bodyPr wrap="square" lIns="0" tIns="0" rIns="0" bIns="0" rtlCol="0" anchor="t"/>
          <a:lstStyle/>
          <a:p>
            <a:pPr algn="l" indent="0" marL="0">
              <a:lnSpc>
                <a:spcPct val="112000"/>
              </a:lnSpc>
              <a:buNone/>
            </a:pPr>
            <a:r>
              <a:rPr lang="en-US" sz="1150" dirty="0">
                <a:solidFill>
                  <a:srgbClr val="9AA6C7"/>
                </a:solidFill>
                <a:latin typeface="Arial" pitchFamily="34" charset="0"/>
                <a:ea typeface="Arial" pitchFamily="34" charset="-122"/>
                <a:cs typeface="Arial" pitchFamily="34" charset="-120"/>
              </a:rPr>
              <a:t>product partner trong &amp; ngoài nước</a:t>
            </a:r>
            <a:endParaRPr lang="en-US" sz="1150" dirty="0"/>
          </a:p>
        </p:txBody>
      </p:sp>
      <p:sp>
        <p:nvSpPr>
          <p:cNvPr id="10" name="Text 8"/>
          <p:cNvSpPr/>
          <p:nvPr/>
        </p:nvSpPr>
        <p:spPr>
          <a:xfrm>
            <a:off x="5913120" y="2834640"/>
            <a:ext cx="2407920" cy="1008993"/>
          </a:xfrm>
          <a:prstGeom prst="rect">
            <a:avLst/>
          </a:prstGeom>
          <a:noFill/>
          <a:ln/>
        </p:spPr>
        <p:txBody>
          <a:bodyPr wrap="square" lIns="0" tIns="0" rIns="0" bIns="0" rtlCol="0" anchor="t"/>
          <a:lstStyle/>
          <a:p>
            <a:pPr algn="l" indent="0" marL="0">
              <a:buNone/>
            </a:pPr>
            <a:r>
              <a:rPr lang="en-US" sz="6400" b="1" dirty="0">
                <a:solidFill>
                  <a:srgbClr val="38E0FF"/>
                </a:solidFill>
                <a:latin typeface="Arial" pitchFamily="34" charset="0"/>
                <a:ea typeface="Arial" pitchFamily="34" charset="-122"/>
                <a:cs typeface="Arial" pitchFamily="34" charset="-120"/>
              </a:rPr>
              <a:t>150+</a:t>
            </a:r>
            <a:endParaRPr lang="en-US" sz="6400" dirty="0"/>
          </a:p>
        </p:txBody>
      </p:sp>
      <p:sp>
        <p:nvSpPr>
          <p:cNvPr id="11" name="Text 9"/>
          <p:cNvSpPr/>
          <p:nvPr/>
        </p:nvSpPr>
        <p:spPr>
          <a:xfrm>
            <a:off x="5913120" y="3861921"/>
            <a:ext cx="2407920" cy="566928"/>
          </a:xfrm>
          <a:prstGeom prst="rect">
            <a:avLst/>
          </a:prstGeom>
          <a:noFill/>
          <a:ln/>
        </p:spPr>
        <p:txBody>
          <a:bodyPr wrap="square" lIns="0" tIns="0" rIns="0" bIns="0" rtlCol="0" anchor="t"/>
          <a:lstStyle/>
          <a:p>
            <a:pPr algn="l" indent="0" marL="0">
              <a:lnSpc>
                <a:spcPct val="112000"/>
              </a:lnSpc>
              <a:buNone/>
            </a:pPr>
            <a:r>
              <a:rPr lang="en-US" sz="1150" dirty="0">
                <a:solidFill>
                  <a:srgbClr val="9AA6C7"/>
                </a:solidFill>
                <a:latin typeface="Arial" pitchFamily="34" charset="0"/>
                <a:ea typeface="Arial" pitchFamily="34" charset="-122"/>
                <a:cs typeface="Arial" pitchFamily="34" charset="-120"/>
              </a:rPr>
              <a:t>thị trường &amp; quốc gia đã phát hành</a:t>
            </a:r>
            <a:endParaRPr lang="en-US" sz="1150" dirty="0"/>
          </a:p>
        </p:txBody>
      </p:sp>
      <p:sp>
        <p:nvSpPr>
          <p:cNvPr id="13" name="Text 10"/>
          <p:cNvSpPr/>
          <p:nvPr/>
        </p:nvSpPr>
        <p:spPr>
          <a:xfrm>
            <a:off x="8321040" y="4828032"/>
            <a:ext cx="685800" cy="228600"/>
          </a:xfrm>
          <a:prstGeom prst="rect">
            <a:avLst/>
          </a:prstGeom>
          <a:noFill/>
          <a:ln/>
        </p:spPr>
        <p:txBody>
          <a:bodyPr wrap="square" lIns="0" tIns="0" rIns="0" bIns="0" rtlCol="0" anchor="ctr"/>
          <a:lstStyle/>
          <a:p>
            <a:pPr algn="r" indent="0" marL="0">
              <a:buNone/>
            </a:pPr>
            <a:r>
              <a:rPr lang="en-US" sz="900" dirty="0">
                <a:solidFill>
                  <a:srgbClr val="9AA6C7"/>
                </a:solidFill>
                <a:latin typeface="Arial" pitchFamily="34" charset="0"/>
                <a:ea typeface="Arial" pitchFamily="34" charset="-122"/>
                <a:cs typeface="Arial" pitchFamily="34" charset="-120"/>
              </a:rPr>
              <a:t>2 / 14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2A"/>
        </a:solidFill>
      </p:bgPr>
    </p:bg>
    <p:spTree>
      <p:nvGrpSpPr>
        <p:cNvPr id="1" name=""/>
        <p:cNvGrpSpPr/>
        <p:nvPr/>
      </p:nvGrpSpPr>
      <p:grpSpPr>
        <a:xfrm>
          <a:off x="0" y="0"/>
          <a:ext cx="0" cy="0"/>
          <a:chOff x="0" y="0"/>
          <a:chExt cx="0" cy="0"/>
        </a:xfrm>
      </p:grpSpPr>
      <p:sp>
        <p:nvSpPr>
          <p:cNvPr id="2" name="Shape 0"/>
          <p:cNvSpPr/>
          <p:nvPr/>
        </p:nvSpPr>
        <p:spPr>
          <a:xfrm>
            <a:off x="548640" y="402336"/>
            <a:ext cx="91440" cy="91440"/>
          </a:xfrm>
          <a:prstGeom prst="ellipse">
            <a:avLst/>
          </a:prstGeom>
          <a:solidFill>
            <a:srgbClr val="38E0FF"/>
          </a:solidFill>
          <a:ln/>
        </p:spPr>
      </p:sp>
      <p:sp>
        <p:nvSpPr>
          <p:cNvPr id="3" name="Text 1"/>
          <p:cNvSpPr/>
          <p:nvPr/>
        </p:nvSpPr>
        <p:spPr>
          <a:xfrm>
            <a:off x="713232" y="310896"/>
            <a:ext cx="7315200" cy="274320"/>
          </a:xfrm>
          <a:prstGeom prst="rect">
            <a:avLst/>
          </a:prstGeom>
          <a:noFill/>
          <a:ln/>
        </p:spPr>
        <p:txBody>
          <a:bodyPr wrap="square" lIns="0" tIns="0" rIns="0" bIns="0" rtlCol="0" anchor="ctr"/>
          <a:lstStyle/>
          <a:p>
            <a:pPr indent="0" marL="0">
              <a:buNone/>
            </a:pPr>
            <a:r>
              <a:rPr lang="en-US" sz="1100" b="1" spc="200" kern="0" dirty="0">
                <a:solidFill>
                  <a:srgbClr val="38E0FF"/>
                </a:solidFill>
                <a:latin typeface="Arial" pitchFamily="34" charset="0"/>
                <a:ea typeface="Arial" pitchFamily="34" charset="-122"/>
                <a:cs typeface="Arial" pitchFamily="34" charset="-120"/>
              </a:rPr>
              <a:t>VẤN ĐỀ</a:t>
            </a:r>
            <a:endParaRPr lang="en-US" sz="1100" dirty="0"/>
          </a:p>
        </p:txBody>
      </p:sp>
      <p:sp>
        <p:nvSpPr>
          <p:cNvPr id="4" name="Text 2"/>
          <p:cNvSpPr/>
          <p:nvPr/>
        </p:nvSpPr>
        <p:spPr>
          <a:xfrm>
            <a:off x="548640" y="676656"/>
            <a:ext cx="8046720" cy="914400"/>
          </a:xfrm>
          <a:prstGeom prst="rect">
            <a:avLst/>
          </a:prstGeom>
          <a:noFill/>
          <a:ln/>
        </p:spPr>
        <p:txBody>
          <a:bodyPr wrap="square" lIns="0" tIns="0" rIns="0" bIns="0" rtlCol="0" anchor="t"/>
          <a:lstStyle/>
          <a:p>
            <a:pPr indent="0" marL="0">
              <a:lnSpc>
                <a:spcPct val="102000"/>
              </a:lnSpc>
              <a:buNone/>
            </a:pPr>
            <a:r>
              <a:rPr lang="en-US" sz="3000" b="1" dirty="0">
                <a:solidFill>
                  <a:srgbClr val="F6F8FF"/>
                </a:solidFill>
                <a:latin typeface="Arial" pitchFamily="34" charset="0"/>
                <a:ea typeface="Arial" pitchFamily="34" charset="-122"/>
                <a:cs typeface="Arial" pitchFamily="34" charset="-120"/>
              </a:rPr>
              <a:t>Ý tưởng thì nhiều — </a:t>
            </a:r>
            <a:pPr indent="0" marL="0">
              <a:lnSpc>
                <a:spcPct val="102000"/>
              </a:lnSpc>
              <a:buNone/>
            </a:pPr>
            <a:r>
              <a:rPr lang="en-US" sz="3000" b="1" dirty="0">
                <a:solidFill>
                  <a:srgbClr val="38E0FF"/>
                </a:solidFill>
                <a:latin typeface="Arial" pitchFamily="34" charset="0"/>
                <a:ea typeface="Arial" pitchFamily="34" charset="-122"/>
                <a:cs typeface="Arial" pitchFamily="34" charset="-120"/>
              </a:rPr>
              <a:t>tay thì có hạn</a:t>
            </a:r>
            <a:endParaRPr lang="en-US" sz="3000" dirty="0"/>
          </a:p>
        </p:txBody>
      </p:sp>
      <p:sp>
        <p:nvSpPr>
          <p:cNvPr id="5" name="Text 3"/>
          <p:cNvSpPr/>
          <p:nvPr/>
        </p:nvSpPr>
        <p:spPr>
          <a:xfrm>
            <a:off x="548640" y="1481328"/>
            <a:ext cx="7863840" cy="777240"/>
          </a:xfrm>
          <a:prstGeom prst="rect">
            <a:avLst/>
          </a:prstGeom>
          <a:noFill/>
          <a:ln/>
        </p:spPr>
        <p:txBody>
          <a:bodyPr wrap="square" lIns="0" tIns="0" rIns="0" bIns="0" rtlCol="0" anchor="t"/>
          <a:lstStyle/>
          <a:p>
            <a:pPr indent="0" marL="0">
              <a:lnSpc>
                <a:spcPct val="118000"/>
              </a:lnSpc>
              <a:buNone/>
            </a:pPr>
            <a:r>
              <a:rPr lang="en-US" sz="1350" dirty="0">
                <a:solidFill>
                  <a:srgbClr val="9AA6C7"/>
                </a:solidFill>
                <a:latin typeface="Arial" pitchFamily="34" charset="0"/>
                <a:ea typeface="Arial" pitchFamily="34" charset="-122"/>
                <a:cs typeface="Arial" pitchFamily="34" charset="-120"/>
              </a:rPr>
              <a:t>Từ ý tưởng đến doanh thu, một studio nghẽn ở 5 cổ chai. Mỗi cổ chai ăn người &amp; ăn thời gian:</a:t>
            </a:r>
            <a:endParaRPr lang="en-US" sz="1350" dirty="0"/>
          </a:p>
        </p:txBody>
      </p:sp>
      <p:sp>
        <p:nvSpPr>
          <p:cNvPr id="6" name="Shape 4"/>
          <p:cNvSpPr/>
          <p:nvPr/>
        </p:nvSpPr>
        <p:spPr>
          <a:xfrm>
            <a:off x="548640" y="2103120"/>
            <a:ext cx="2499360" cy="1243584"/>
          </a:xfrm>
          <a:prstGeom prst="roundRect">
            <a:avLst>
              <a:gd name="adj" fmla="val 9559"/>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7" name="Text 5"/>
          <p:cNvSpPr/>
          <p:nvPr/>
        </p:nvSpPr>
        <p:spPr>
          <a:xfrm>
            <a:off x="768096" y="2286000"/>
            <a:ext cx="2060448" cy="219456"/>
          </a:xfrm>
          <a:prstGeom prst="rect">
            <a:avLst/>
          </a:prstGeom>
          <a:noFill/>
          <a:ln/>
        </p:spPr>
        <p:txBody>
          <a:bodyPr wrap="square" lIns="0" tIns="0" rIns="0" bIns="0" rtlCol="0" anchor="ctr"/>
          <a:lstStyle/>
          <a:p>
            <a:pPr indent="0" marL="0">
              <a:buNone/>
            </a:pPr>
            <a:r>
              <a:rPr lang="en-US" sz="1000" b="1" spc="100" kern="0" dirty="0">
                <a:solidFill>
                  <a:srgbClr val="38E0FF"/>
                </a:solidFill>
                <a:latin typeface="Arial" pitchFamily="34" charset="0"/>
                <a:ea typeface="Arial" pitchFamily="34" charset="-122"/>
                <a:cs typeface="Arial" pitchFamily="34" charset="-120"/>
              </a:rPr>
              <a:t>01</a:t>
            </a:r>
            <a:endParaRPr lang="en-US" sz="1000" dirty="0"/>
          </a:p>
        </p:txBody>
      </p:sp>
      <p:sp>
        <p:nvSpPr>
          <p:cNvPr id="8" name="Text 6"/>
          <p:cNvSpPr/>
          <p:nvPr/>
        </p:nvSpPr>
        <p:spPr>
          <a:xfrm>
            <a:off x="768096" y="2560320"/>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Dev cycle</a:t>
            </a:r>
            <a:endParaRPr lang="en-US" sz="1400" dirty="0"/>
          </a:p>
        </p:txBody>
      </p:sp>
      <p:sp>
        <p:nvSpPr>
          <p:cNvPr id="9" name="Text 7"/>
          <p:cNvSpPr/>
          <p:nvPr/>
        </p:nvSpPr>
        <p:spPr>
          <a:xfrm>
            <a:off x="768096" y="2944368"/>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Code app native chậm, sửa tới sửa lui.</a:t>
            </a:r>
            <a:endParaRPr lang="en-US" sz="1150" dirty="0"/>
          </a:p>
        </p:txBody>
      </p:sp>
      <p:sp>
        <p:nvSpPr>
          <p:cNvPr id="10" name="Shape 8"/>
          <p:cNvSpPr/>
          <p:nvPr/>
        </p:nvSpPr>
        <p:spPr>
          <a:xfrm>
            <a:off x="3322320" y="2103120"/>
            <a:ext cx="2499360" cy="1243584"/>
          </a:xfrm>
          <a:prstGeom prst="roundRect">
            <a:avLst>
              <a:gd name="adj" fmla="val 9559"/>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11" name="Text 9"/>
          <p:cNvSpPr/>
          <p:nvPr/>
        </p:nvSpPr>
        <p:spPr>
          <a:xfrm>
            <a:off x="3541776" y="2286000"/>
            <a:ext cx="2060448" cy="219456"/>
          </a:xfrm>
          <a:prstGeom prst="rect">
            <a:avLst/>
          </a:prstGeom>
          <a:noFill/>
          <a:ln/>
        </p:spPr>
        <p:txBody>
          <a:bodyPr wrap="square" lIns="0" tIns="0" rIns="0" bIns="0" rtlCol="0" anchor="ctr"/>
          <a:lstStyle/>
          <a:p>
            <a:pPr indent="0" marL="0">
              <a:buNone/>
            </a:pPr>
            <a:r>
              <a:rPr lang="en-US" sz="1000" b="1" spc="100" kern="0" dirty="0">
                <a:solidFill>
                  <a:srgbClr val="38E0FF"/>
                </a:solidFill>
                <a:latin typeface="Arial" pitchFamily="34" charset="0"/>
                <a:ea typeface="Arial" pitchFamily="34" charset="-122"/>
                <a:cs typeface="Arial" pitchFamily="34" charset="-120"/>
              </a:rPr>
              <a:t>02</a:t>
            </a:r>
            <a:endParaRPr lang="en-US" sz="1000" dirty="0"/>
          </a:p>
        </p:txBody>
      </p:sp>
      <p:sp>
        <p:nvSpPr>
          <p:cNvPr id="12" name="Text 10"/>
          <p:cNvSpPr/>
          <p:nvPr/>
        </p:nvSpPr>
        <p:spPr>
          <a:xfrm>
            <a:off x="3541776" y="2560320"/>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QA &amp; test</a:t>
            </a:r>
            <a:endParaRPr lang="en-US" sz="1400" dirty="0"/>
          </a:p>
        </p:txBody>
      </p:sp>
      <p:sp>
        <p:nvSpPr>
          <p:cNvPr id="13" name="Text 11"/>
          <p:cNvSpPr/>
          <p:nvPr/>
        </p:nvSpPr>
        <p:spPr>
          <a:xfrm>
            <a:off x="3541776" y="2944368"/>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Test tay trên nhiều máy, dễ sót.</a:t>
            </a:r>
            <a:endParaRPr lang="en-US" sz="1150" dirty="0"/>
          </a:p>
        </p:txBody>
      </p:sp>
      <p:sp>
        <p:nvSpPr>
          <p:cNvPr id="14" name="Shape 12"/>
          <p:cNvSpPr/>
          <p:nvPr/>
        </p:nvSpPr>
        <p:spPr>
          <a:xfrm>
            <a:off x="6096000" y="2103120"/>
            <a:ext cx="2499360" cy="1243584"/>
          </a:xfrm>
          <a:prstGeom prst="roundRect">
            <a:avLst>
              <a:gd name="adj" fmla="val 9559"/>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15" name="Text 13"/>
          <p:cNvSpPr/>
          <p:nvPr/>
        </p:nvSpPr>
        <p:spPr>
          <a:xfrm>
            <a:off x="6315456" y="2286000"/>
            <a:ext cx="2060448" cy="219456"/>
          </a:xfrm>
          <a:prstGeom prst="rect">
            <a:avLst/>
          </a:prstGeom>
          <a:noFill/>
          <a:ln/>
        </p:spPr>
        <p:txBody>
          <a:bodyPr wrap="square" lIns="0" tIns="0" rIns="0" bIns="0" rtlCol="0" anchor="ctr"/>
          <a:lstStyle/>
          <a:p>
            <a:pPr indent="0" marL="0">
              <a:buNone/>
            </a:pPr>
            <a:r>
              <a:rPr lang="en-US" sz="1000" b="1" spc="100" kern="0" dirty="0">
                <a:solidFill>
                  <a:srgbClr val="38E0FF"/>
                </a:solidFill>
                <a:latin typeface="Arial" pitchFamily="34" charset="0"/>
                <a:ea typeface="Arial" pitchFamily="34" charset="-122"/>
                <a:cs typeface="Arial" pitchFamily="34" charset="-120"/>
              </a:rPr>
              <a:t>03</a:t>
            </a:r>
            <a:endParaRPr lang="en-US" sz="1000" dirty="0"/>
          </a:p>
        </p:txBody>
      </p:sp>
      <p:sp>
        <p:nvSpPr>
          <p:cNvPr id="16" name="Text 14"/>
          <p:cNvSpPr/>
          <p:nvPr/>
        </p:nvSpPr>
        <p:spPr>
          <a:xfrm>
            <a:off x="6315456" y="2560320"/>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Bản địa hoá</a:t>
            </a:r>
            <a:endParaRPr lang="en-US" sz="1400" dirty="0"/>
          </a:p>
        </p:txBody>
      </p:sp>
      <p:sp>
        <p:nvSpPr>
          <p:cNvPr id="17" name="Text 15"/>
          <p:cNvSpPr/>
          <p:nvPr/>
        </p:nvSpPr>
        <p:spPr>
          <a:xfrm>
            <a:off x="6315456" y="2944368"/>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Muốn ra thị trường mới mà thiếu người dịch.</a:t>
            </a:r>
            <a:endParaRPr lang="en-US" sz="1150" dirty="0"/>
          </a:p>
        </p:txBody>
      </p:sp>
      <p:sp>
        <p:nvSpPr>
          <p:cNvPr id="18" name="Shape 16"/>
          <p:cNvSpPr/>
          <p:nvPr/>
        </p:nvSpPr>
        <p:spPr>
          <a:xfrm>
            <a:off x="548640" y="3456432"/>
            <a:ext cx="2499360" cy="1243584"/>
          </a:xfrm>
          <a:prstGeom prst="roundRect">
            <a:avLst>
              <a:gd name="adj" fmla="val 9559"/>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19" name="Text 17"/>
          <p:cNvSpPr/>
          <p:nvPr/>
        </p:nvSpPr>
        <p:spPr>
          <a:xfrm>
            <a:off x="768096" y="3639312"/>
            <a:ext cx="2060448" cy="219456"/>
          </a:xfrm>
          <a:prstGeom prst="rect">
            <a:avLst/>
          </a:prstGeom>
          <a:noFill/>
          <a:ln/>
        </p:spPr>
        <p:txBody>
          <a:bodyPr wrap="square" lIns="0" tIns="0" rIns="0" bIns="0" rtlCol="0" anchor="ctr"/>
          <a:lstStyle/>
          <a:p>
            <a:pPr indent="0" marL="0">
              <a:buNone/>
            </a:pPr>
            <a:r>
              <a:rPr lang="en-US" sz="1000" b="1" spc="100" kern="0" dirty="0">
                <a:solidFill>
                  <a:srgbClr val="38E0FF"/>
                </a:solidFill>
                <a:latin typeface="Arial" pitchFamily="34" charset="0"/>
                <a:ea typeface="Arial" pitchFamily="34" charset="-122"/>
                <a:cs typeface="Arial" pitchFamily="34" charset="-120"/>
              </a:rPr>
              <a:t>04</a:t>
            </a:r>
            <a:endParaRPr lang="en-US" sz="1000" dirty="0"/>
          </a:p>
        </p:txBody>
      </p:sp>
      <p:sp>
        <p:nvSpPr>
          <p:cNvPr id="20" name="Text 18"/>
          <p:cNvSpPr/>
          <p:nvPr/>
        </p:nvSpPr>
        <p:spPr>
          <a:xfrm>
            <a:off x="768096" y="3913632"/>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Ad creative</a:t>
            </a:r>
            <a:endParaRPr lang="en-US" sz="1400" dirty="0"/>
          </a:p>
        </p:txBody>
      </p:sp>
      <p:sp>
        <p:nvSpPr>
          <p:cNvPr id="21" name="Text 19"/>
          <p:cNvSpPr/>
          <p:nvPr/>
        </p:nvSpPr>
        <p:spPr>
          <a:xfrm>
            <a:off x="768096" y="4297680"/>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Làm video quảng cáo tốn kém, ra chậm.</a:t>
            </a:r>
            <a:endParaRPr lang="en-US" sz="1150" dirty="0"/>
          </a:p>
        </p:txBody>
      </p:sp>
      <p:sp>
        <p:nvSpPr>
          <p:cNvPr id="22" name="Shape 20"/>
          <p:cNvSpPr/>
          <p:nvPr/>
        </p:nvSpPr>
        <p:spPr>
          <a:xfrm>
            <a:off x="3322320" y="3456432"/>
            <a:ext cx="2499360" cy="1243584"/>
          </a:xfrm>
          <a:prstGeom prst="roundRect">
            <a:avLst>
              <a:gd name="adj" fmla="val 9559"/>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23" name="Text 21"/>
          <p:cNvSpPr/>
          <p:nvPr/>
        </p:nvSpPr>
        <p:spPr>
          <a:xfrm>
            <a:off x="3541776" y="3639312"/>
            <a:ext cx="2060448" cy="219456"/>
          </a:xfrm>
          <a:prstGeom prst="rect">
            <a:avLst/>
          </a:prstGeom>
          <a:noFill/>
          <a:ln/>
        </p:spPr>
        <p:txBody>
          <a:bodyPr wrap="square" lIns="0" tIns="0" rIns="0" bIns="0" rtlCol="0" anchor="ctr"/>
          <a:lstStyle/>
          <a:p>
            <a:pPr indent="0" marL="0">
              <a:buNone/>
            </a:pPr>
            <a:r>
              <a:rPr lang="en-US" sz="1000" b="1" spc="100" kern="0" dirty="0">
                <a:solidFill>
                  <a:srgbClr val="38E0FF"/>
                </a:solidFill>
                <a:latin typeface="Arial" pitchFamily="34" charset="0"/>
                <a:ea typeface="Arial" pitchFamily="34" charset="-122"/>
                <a:cs typeface="Arial" pitchFamily="34" charset="-120"/>
              </a:rPr>
              <a:t>05</a:t>
            </a:r>
            <a:endParaRPr lang="en-US" sz="1000" dirty="0"/>
          </a:p>
        </p:txBody>
      </p:sp>
      <p:sp>
        <p:nvSpPr>
          <p:cNvPr id="24" name="Text 22"/>
          <p:cNvSpPr/>
          <p:nvPr/>
        </p:nvSpPr>
        <p:spPr>
          <a:xfrm>
            <a:off x="3541776" y="3913632"/>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Monetization</a:t>
            </a:r>
            <a:endParaRPr lang="en-US" sz="1400" dirty="0"/>
          </a:p>
        </p:txBody>
      </p:sp>
      <p:sp>
        <p:nvSpPr>
          <p:cNvPr id="25" name="Text 23"/>
          <p:cNvSpPr/>
          <p:nvPr/>
        </p:nvSpPr>
        <p:spPr>
          <a:xfrm>
            <a:off x="3541776" y="4297680"/>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Setup &amp; tối ưu quảng cáo thủ công.</a:t>
            </a:r>
            <a:endParaRPr lang="en-US" sz="1150" dirty="0"/>
          </a:p>
        </p:txBody>
      </p:sp>
      <p:sp>
        <p:nvSpPr>
          <p:cNvPr id="26" name="Shape 24"/>
          <p:cNvSpPr/>
          <p:nvPr/>
        </p:nvSpPr>
        <p:spPr>
          <a:xfrm>
            <a:off x="6096000" y="3456432"/>
            <a:ext cx="2499360" cy="1243584"/>
          </a:xfrm>
          <a:prstGeom prst="roundRect">
            <a:avLst>
              <a:gd name="adj" fmla="val 9559"/>
            </a:avLst>
          </a:prstGeom>
          <a:solidFill>
            <a:srgbClr val="2A1636"/>
          </a:solidFill>
          <a:ln w="12700">
            <a:solidFill>
              <a:srgbClr val="7A2E63"/>
            </a:solidFill>
            <a:prstDash val="solid"/>
          </a:ln>
          <a:effectLst>
            <a:outerShdw sx="100000" sy="100000" kx="0" ky="0" algn="bl" rotWithShape="0" blurRad="101600" dist="25400" dir="5400000">
              <a:srgbClr val="000000">
                <a:alpha val="28000"/>
              </a:srgbClr>
            </a:outerShdw>
          </a:effectLst>
        </p:spPr>
      </p:sp>
      <p:sp>
        <p:nvSpPr>
          <p:cNvPr id="27" name="Text 25"/>
          <p:cNvSpPr/>
          <p:nvPr/>
        </p:nvSpPr>
        <p:spPr>
          <a:xfrm>
            <a:off x="6315456" y="3639312"/>
            <a:ext cx="2060448" cy="219456"/>
          </a:xfrm>
          <a:prstGeom prst="rect">
            <a:avLst/>
          </a:prstGeom>
          <a:noFill/>
          <a:ln/>
        </p:spPr>
        <p:txBody>
          <a:bodyPr wrap="square" lIns="0" tIns="0" rIns="0" bIns="0" rtlCol="0" anchor="ctr"/>
          <a:lstStyle/>
          <a:p>
            <a:pPr indent="0" marL="0">
              <a:buNone/>
            </a:pPr>
            <a:r>
              <a:rPr lang="en-US" sz="1000" b="1" spc="100" kern="0" dirty="0">
                <a:solidFill>
                  <a:srgbClr val="F9A8D4"/>
                </a:solidFill>
                <a:latin typeface="Arial" pitchFamily="34" charset="0"/>
                <a:ea typeface="Arial" pitchFamily="34" charset="-122"/>
                <a:cs typeface="Arial" pitchFamily="34" charset="-120"/>
              </a:rPr>
              <a:t>CÂU HỎI</a:t>
            </a:r>
            <a:endParaRPr lang="en-US" sz="1000" dirty="0"/>
          </a:p>
        </p:txBody>
      </p:sp>
      <p:sp>
        <p:nvSpPr>
          <p:cNvPr id="28" name="Text 26"/>
          <p:cNvSpPr/>
          <p:nvPr/>
        </p:nvSpPr>
        <p:spPr>
          <a:xfrm>
            <a:off x="6315456" y="3913632"/>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Cổ chai nào giao được cho AI?</a:t>
            </a:r>
            <a:endParaRPr lang="en-US" sz="1400" dirty="0"/>
          </a:p>
        </p:txBody>
      </p:sp>
      <p:sp>
        <p:nvSpPr>
          <p:cNvPr id="29" name="Text 27"/>
          <p:cNvSpPr/>
          <p:nvPr/>
        </p:nvSpPr>
        <p:spPr>
          <a:xfrm>
            <a:off x="6315456" y="4517136"/>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Tụi mình đi tìm câu trả lời cho cả 5.</a:t>
            </a:r>
            <a:endParaRPr lang="en-US" sz="1150" dirty="0"/>
          </a:p>
        </p:txBody>
      </p:sp>
      <p:sp>
        <p:nvSpPr>
          <p:cNvPr id="31" name="Text 28"/>
          <p:cNvSpPr/>
          <p:nvPr/>
        </p:nvSpPr>
        <p:spPr>
          <a:xfrm>
            <a:off x="8321040" y="4828032"/>
            <a:ext cx="685800" cy="228600"/>
          </a:xfrm>
          <a:prstGeom prst="rect">
            <a:avLst/>
          </a:prstGeom>
          <a:noFill/>
          <a:ln/>
        </p:spPr>
        <p:txBody>
          <a:bodyPr wrap="square" lIns="0" tIns="0" rIns="0" bIns="0" rtlCol="0" anchor="ctr"/>
          <a:lstStyle/>
          <a:p>
            <a:pPr algn="r" indent="0" marL="0">
              <a:buNone/>
            </a:pPr>
            <a:r>
              <a:rPr lang="en-US" sz="900" dirty="0">
                <a:solidFill>
                  <a:srgbClr val="9AA6C7"/>
                </a:solidFill>
                <a:latin typeface="Arial" pitchFamily="34" charset="0"/>
                <a:ea typeface="Arial" pitchFamily="34" charset="-122"/>
                <a:cs typeface="Arial" pitchFamily="34" charset="-120"/>
              </a:rPr>
              <a:t>3 / 14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2A"/>
        </a:solidFill>
      </p:bgPr>
    </p:bg>
    <p:spTree>
      <p:nvGrpSpPr>
        <p:cNvPr id="1" name=""/>
        <p:cNvGrpSpPr/>
        <p:nvPr/>
      </p:nvGrpSpPr>
      <p:grpSpPr>
        <a:xfrm>
          <a:off x="0" y="0"/>
          <a:ext cx="0" cy="0"/>
          <a:chOff x="0" y="0"/>
          <a:chExt cx="0" cy="0"/>
        </a:xfrm>
      </p:grpSpPr>
      <p:sp>
        <p:nvSpPr>
          <p:cNvPr id="2" name="Shape 0"/>
          <p:cNvSpPr/>
          <p:nvPr/>
        </p:nvSpPr>
        <p:spPr>
          <a:xfrm>
            <a:off x="548640" y="402336"/>
            <a:ext cx="91440" cy="91440"/>
          </a:xfrm>
          <a:prstGeom prst="ellipse">
            <a:avLst/>
          </a:prstGeom>
          <a:solidFill>
            <a:srgbClr val="38E0FF"/>
          </a:solidFill>
          <a:ln/>
        </p:spPr>
      </p:sp>
      <p:sp>
        <p:nvSpPr>
          <p:cNvPr id="3" name="Text 1"/>
          <p:cNvSpPr/>
          <p:nvPr/>
        </p:nvSpPr>
        <p:spPr>
          <a:xfrm>
            <a:off x="713232" y="310896"/>
            <a:ext cx="7315200" cy="274320"/>
          </a:xfrm>
          <a:prstGeom prst="rect">
            <a:avLst/>
          </a:prstGeom>
          <a:noFill/>
          <a:ln/>
        </p:spPr>
        <p:txBody>
          <a:bodyPr wrap="square" lIns="0" tIns="0" rIns="0" bIns="0" rtlCol="0" anchor="ctr"/>
          <a:lstStyle/>
          <a:p>
            <a:pPr indent="0" marL="0">
              <a:buNone/>
            </a:pPr>
            <a:r>
              <a:rPr lang="en-US" sz="1100" b="1" spc="200" kern="0" dirty="0">
                <a:solidFill>
                  <a:srgbClr val="38E0FF"/>
                </a:solidFill>
                <a:latin typeface="Arial" pitchFamily="34" charset="0"/>
                <a:ea typeface="Arial" pitchFamily="34" charset="-122"/>
                <a:cs typeface="Arial" pitchFamily="34" charset="-120"/>
              </a:rPr>
              <a:t>LUẬN ĐIỂM</a:t>
            </a:r>
            <a:endParaRPr lang="en-US" sz="1100" dirty="0"/>
          </a:p>
        </p:txBody>
      </p:sp>
      <p:sp>
        <p:nvSpPr>
          <p:cNvPr id="4" name="Text 2"/>
          <p:cNvSpPr/>
          <p:nvPr/>
        </p:nvSpPr>
        <p:spPr>
          <a:xfrm>
            <a:off x="548640" y="676656"/>
            <a:ext cx="8046720" cy="914400"/>
          </a:xfrm>
          <a:prstGeom prst="rect">
            <a:avLst/>
          </a:prstGeom>
          <a:noFill/>
          <a:ln/>
        </p:spPr>
        <p:txBody>
          <a:bodyPr wrap="square" lIns="0" tIns="0" rIns="0" bIns="0" rtlCol="0" anchor="t"/>
          <a:lstStyle/>
          <a:p>
            <a:pPr indent="0" marL="0">
              <a:lnSpc>
                <a:spcPct val="102000"/>
              </a:lnSpc>
              <a:buNone/>
            </a:pPr>
            <a:r>
              <a:rPr lang="en-US" sz="3000" b="1" dirty="0">
                <a:solidFill>
                  <a:srgbClr val="F6F8FF"/>
                </a:solidFill>
                <a:latin typeface="Arial" pitchFamily="34" charset="0"/>
                <a:ea typeface="Arial" pitchFamily="34" charset="-122"/>
                <a:cs typeface="Arial" pitchFamily="34" charset="-120"/>
              </a:rPr>
              <a:t>AI không chỉ </a:t>
            </a:r>
            <a:pPr indent="0" marL="0">
              <a:lnSpc>
                <a:spcPct val="102000"/>
              </a:lnSpc>
              <a:buNone/>
            </a:pPr>
            <a:r>
              <a:rPr lang="en-US" sz="3000" b="1" strike="sngStrike" dirty="0">
                <a:solidFill>
                  <a:srgbClr val="9AA6C7"/>
                </a:solidFill>
                <a:latin typeface="Arial" pitchFamily="34" charset="0"/>
                <a:ea typeface="Arial" pitchFamily="34" charset="-122"/>
                <a:cs typeface="Arial" pitchFamily="34" charset="-120"/>
              </a:rPr>
              <a:t>viết code</a:t>
            </a:r>
            <a:pPr indent="0" marL="0">
              <a:lnSpc>
                <a:spcPct val="102000"/>
              </a:lnSpc>
              <a:buNone/>
            </a:pPr>
            <a:r>
              <a:rPr lang="en-US" sz="3000" b="1" dirty="0">
                <a:solidFill>
                  <a:srgbClr val="F6F8FF"/>
                </a:solidFill>
                <a:latin typeface="Arial" pitchFamily="34" charset="0"/>
                <a:ea typeface="Arial" pitchFamily="34" charset="-122"/>
                <a:cs typeface="Arial" pitchFamily="34" charset="-120"/>
              </a:rPr>
              <a:t> — AI chạy </a:t>
            </a:r>
            <a:pPr indent="0" marL="0">
              <a:lnSpc>
                <a:spcPct val="102000"/>
              </a:lnSpc>
              <a:buNone/>
            </a:pPr>
            <a:r>
              <a:rPr lang="en-US" sz="3000" b="1" dirty="0">
                <a:solidFill>
                  <a:srgbClr val="38E0FF"/>
                </a:solidFill>
                <a:latin typeface="Arial" pitchFamily="34" charset="0"/>
                <a:ea typeface="Arial" pitchFamily="34" charset="-122"/>
                <a:cs typeface="Arial" pitchFamily="34" charset="-120"/>
              </a:rPr>
              <a:t>cả workflow</a:t>
            </a:r>
            <a:endParaRPr lang="en-US" sz="3000" dirty="0"/>
          </a:p>
        </p:txBody>
      </p:sp>
      <p:sp>
        <p:nvSpPr>
          <p:cNvPr id="5" name="Text 3"/>
          <p:cNvSpPr/>
          <p:nvPr/>
        </p:nvSpPr>
        <p:spPr>
          <a:xfrm>
            <a:off x="548640" y="1481328"/>
            <a:ext cx="7955280" cy="777240"/>
          </a:xfrm>
          <a:prstGeom prst="rect">
            <a:avLst/>
          </a:prstGeom>
          <a:noFill/>
          <a:ln/>
        </p:spPr>
        <p:txBody>
          <a:bodyPr wrap="square" lIns="0" tIns="0" rIns="0" bIns="0" rtlCol="0" anchor="t"/>
          <a:lstStyle/>
          <a:p>
            <a:pPr indent="0" marL="0">
              <a:lnSpc>
                <a:spcPct val="118000"/>
              </a:lnSpc>
              <a:buNone/>
            </a:pPr>
            <a:r>
              <a:rPr lang="en-US" sz="1350" dirty="0">
                <a:solidFill>
                  <a:srgbClr val="9AA6C7"/>
                </a:solidFill>
                <a:latin typeface="Arial" pitchFamily="34" charset="0"/>
                <a:ea typeface="Arial" pitchFamily="34" charset="-122"/>
                <a:cs typeface="Arial" pitchFamily="34" charset="-120"/>
              </a:rPr>
              <a:t>Sức mạnh nằm ở </a:t>
            </a:r>
            <a:pPr indent="0" marL="0">
              <a:lnSpc>
                <a:spcPct val="118000"/>
              </a:lnSpc>
              <a:buNone/>
            </a:pPr>
            <a:r>
              <a:rPr lang="en-US" sz="1350" b="1" dirty="0">
                <a:solidFill>
                  <a:srgbClr val="FFFFFF"/>
                </a:solidFill>
                <a:latin typeface="Arial" pitchFamily="34" charset="0"/>
                <a:ea typeface="Arial" pitchFamily="34" charset="-122"/>
                <a:cs typeface="Arial" pitchFamily="34" charset="-120"/>
              </a:rPr>
              <a:t>vòng lặp tự sửa đến khi ra kết quả</a:t>
            </a:r>
            <a:pPr indent="0" marL="0">
              <a:lnSpc>
                <a:spcPct val="118000"/>
              </a:lnSpc>
              <a:buNone/>
            </a:pPr>
            <a:r>
              <a:rPr lang="en-US" sz="1350" dirty="0">
                <a:solidFill>
                  <a:srgbClr val="9AA6C7"/>
                </a:solidFill>
                <a:latin typeface="Arial" pitchFamily="34" charset="0"/>
                <a:ea typeface="Arial" pitchFamily="34" charset="-122"/>
                <a:cs typeface="Arial" pitchFamily="34" charset="-120"/>
              </a:rPr>
              <a:t>, không phải một prompt lẻ. Đây là 3 workflow EXO đang chạy thật:</a:t>
            </a:r>
            <a:endParaRPr lang="en-US" sz="1350" dirty="0"/>
          </a:p>
        </p:txBody>
      </p:sp>
      <p:sp>
        <p:nvSpPr>
          <p:cNvPr id="6" name="Shape 4"/>
          <p:cNvSpPr/>
          <p:nvPr/>
        </p:nvSpPr>
        <p:spPr>
          <a:xfrm>
            <a:off x="548640" y="2834640"/>
            <a:ext cx="2331720" cy="1371600"/>
          </a:xfrm>
          <a:prstGeom prst="roundRect">
            <a:avLst>
              <a:gd name="adj" fmla="val 6667"/>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7" name="Text 5"/>
          <p:cNvSpPr/>
          <p:nvPr/>
        </p:nvSpPr>
        <p:spPr>
          <a:xfrm>
            <a:off x="640080" y="3054096"/>
            <a:ext cx="214884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6F8FF"/>
                </a:solidFill>
                <a:latin typeface="Arial" pitchFamily="34" charset="0"/>
                <a:ea typeface="Arial" pitchFamily="34" charset="-122"/>
                <a:cs typeface="Arial" pitchFamily="34" charset="-120"/>
              </a:rPr>
              <a:t>1 · Xưởng App</a:t>
            </a:r>
            <a:endParaRPr lang="en-US" sz="1400" dirty="0"/>
          </a:p>
        </p:txBody>
      </p:sp>
      <p:sp>
        <p:nvSpPr>
          <p:cNvPr id="8" name="Text 6"/>
          <p:cNvSpPr/>
          <p:nvPr/>
        </p:nvSpPr>
        <p:spPr>
          <a:xfrm>
            <a:off x="621792" y="3749040"/>
            <a:ext cx="2185416" cy="384048"/>
          </a:xfrm>
          <a:prstGeom prst="rect">
            <a:avLst/>
          </a:prstGeom>
          <a:noFill/>
          <a:ln/>
        </p:spPr>
        <p:txBody>
          <a:bodyPr wrap="square" lIns="0" tIns="0" rIns="0" bIns="0" rtlCol="0" anchor="t"/>
          <a:lstStyle/>
          <a:p>
            <a:pPr algn="ctr" indent="0" marL="0">
              <a:lnSpc>
                <a:spcPct val="105000"/>
              </a:lnSpc>
              <a:buNone/>
            </a:pPr>
            <a:r>
              <a:rPr lang="en-US" sz="1050" dirty="0">
                <a:solidFill>
                  <a:srgbClr val="9AA6C7"/>
                </a:solidFill>
                <a:latin typeface="Arial" pitchFamily="34" charset="0"/>
                <a:ea typeface="Arial" pitchFamily="34" charset="-122"/>
                <a:cs typeface="Arial" pitchFamily="34" charset="-120"/>
              </a:rPr>
              <a:t>Ý tưởng → App sẵn sàng KD</a:t>
            </a:r>
            <a:endParaRPr lang="en-US" sz="1050" dirty="0"/>
          </a:p>
        </p:txBody>
      </p:sp>
      <p:sp>
        <p:nvSpPr>
          <p:cNvPr id="9" name="Text 7"/>
          <p:cNvSpPr/>
          <p:nvPr/>
        </p:nvSpPr>
        <p:spPr>
          <a:xfrm>
            <a:off x="2960370" y="3337560"/>
            <a:ext cx="365760" cy="365760"/>
          </a:xfrm>
          <a:prstGeom prst="rect">
            <a:avLst/>
          </a:prstGeom>
          <a:noFill/>
          <a:ln/>
        </p:spPr>
        <p:txBody>
          <a:bodyPr wrap="square" lIns="0" tIns="0" rIns="0" bIns="0" rtlCol="0" anchor="ctr"/>
          <a:lstStyle/>
          <a:p>
            <a:pPr algn="ctr" indent="0" marL="0">
              <a:buNone/>
            </a:pPr>
            <a:r>
              <a:rPr lang="en-US" sz="2000" b="1" dirty="0">
                <a:solidFill>
                  <a:srgbClr val="38E0FF"/>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3406140" y="2834640"/>
            <a:ext cx="2331720" cy="1371600"/>
          </a:xfrm>
          <a:prstGeom prst="roundRect">
            <a:avLst>
              <a:gd name="adj" fmla="val 6667"/>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11" name="Text 9"/>
          <p:cNvSpPr/>
          <p:nvPr/>
        </p:nvSpPr>
        <p:spPr>
          <a:xfrm>
            <a:off x="3497580" y="3054096"/>
            <a:ext cx="214884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6F8FF"/>
                </a:solidFill>
                <a:latin typeface="Arial" pitchFamily="34" charset="0"/>
                <a:ea typeface="Arial" pitchFamily="34" charset="-122"/>
                <a:cs typeface="Arial" pitchFamily="34" charset="-120"/>
              </a:rPr>
              <a:t>2 · Creative Production</a:t>
            </a:r>
            <a:endParaRPr lang="en-US" sz="1400" dirty="0"/>
          </a:p>
        </p:txBody>
      </p:sp>
      <p:sp>
        <p:nvSpPr>
          <p:cNvPr id="12" name="Text 10"/>
          <p:cNvSpPr/>
          <p:nvPr/>
        </p:nvSpPr>
        <p:spPr>
          <a:xfrm>
            <a:off x="3479292" y="3749040"/>
            <a:ext cx="2185416" cy="384048"/>
          </a:xfrm>
          <a:prstGeom prst="rect">
            <a:avLst/>
          </a:prstGeom>
          <a:noFill/>
          <a:ln/>
        </p:spPr>
        <p:txBody>
          <a:bodyPr wrap="square" lIns="0" tIns="0" rIns="0" bIns="0" rtlCol="0" anchor="t"/>
          <a:lstStyle/>
          <a:p>
            <a:pPr algn="ctr" indent="0" marL="0">
              <a:lnSpc>
                <a:spcPct val="105000"/>
              </a:lnSpc>
              <a:buNone/>
            </a:pPr>
            <a:r>
              <a:rPr lang="en-US" sz="1050" dirty="0">
                <a:solidFill>
                  <a:srgbClr val="9AA6C7"/>
                </a:solidFill>
                <a:latin typeface="Arial" pitchFamily="34" charset="0"/>
                <a:ea typeface="Arial" pitchFamily="34" charset="-122"/>
                <a:cs typeface="Arial" pitchFamily="34" charset="-120"/>
              </a:rPr>
              <a:t>Sản xuất creative</a:t>
            </a:r>
            <a:endParaRPr lang="en-US" sz="1050" dirty="0"/>
          </a:p>
        </p:txBody>
      </p:sp>
      <p:sp>
        <p:nvSpPr>
          <p:cNvPr id="13" name="Text 11"/>
          <p:cNvSpPr/>
          <p:nvPr/>
        </p:nvSpPr>
        <p:spPr>
          <a:xfrm>
            <a:off x="5817870" y="3337560"/>
            <a:ext cx="365760" cy="365760"/>
          </a:xfrm>
          <a:prstGeom prst="rect">
            <a:avLst/>
          </a:prstGeom>
          <a:noFill/>
          <a:ln/>
        </p:spPr>
        <p:txBody>
          <a:bodyPr wrap="square" lIns="0" tIns="0" rIns="0" bIns="0" rtlCol="0" anchor="ctr"/>
          <a:lstStyle/>
          <a:p>
            <a:pPr algn="ctr" indent="0" marL="0">
              <a:buNone/>
            </a:pPr>
            <a:r>
              <a:rPr lang="en-US" sz="2000" b="1" dirty="0">
                <a:solidFill>
                  <a:srgbClr val="38E0FF"/>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6263640" y="2834640"/>
            <a:ext cx="2331720" cy="1371600"/>
          </a:xfrm>
          <a:prstGeom prst="roundRect">
            <a:avLst>
              <a:gd name="adj" fmla="val 6667"/>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15" name="Text 13"/>
          <p:cNvSpPr/>
          <p:nvPr/>
        </p:nvSpPr>
        <p:spPr>
          <a:xfrm>
            <a:off x="6355080" y="3054096"/>
            <a:ext cx="214884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6F8FF"/>
                </a:solidFill>
                <a:latin typeface="Arial" pitchFamily="34" charset="0"/>
                <a:ea typeface="Arial" pitchFamily="34" charset="-122"/>
                <a:cs typeface="Arial" pitchFamily="34" charset="-120"/>
              </a:rPr>
              <a:t>3 · UA Agent</a:t>
            </a:r>
            <a:endParaRPr lang="en-US" sz="1400" dirty="0"/>
          </a:p>
        </p:txBody>
      </p:sp>
      <p:sp>
        <p:nvSpPr>
          <p:cNvPr id="16" name="Text 14"/>
          <p:cNvSpPr/>
          <p:nvPr/>
        </p:nvSpPr>
        <p:spPr>
          <a:xfrm>
            <a:off x="6336792" y="3749040"/>
            <a:ext cx="2185416" cy="384048"/>
          </a:xfrm>
          <a:prstGeom prst="rect">
            <a:avLst/>
          </a:prstGeom>
          <a:noFill/>
          <a:ln/>
        </p:spPr>
        <p:txBody>
          <a:bodyPr wrap="square" lIns="0" tIns="0" rIns="0" bIns="0" rtlCol="0" anchor="t"/>
          <a:lstStyle/>
          <a:p>
            <a:pPr algn="ctr" indent="0" marL="0">
              <a:lnSpc>
                <a:spcPct val="105000"/>
              </a:lnSpc>
              <a:buNone/>
            </a:pPr>
            <a:r>
              <a:rPr lang="en-US" sz="1050" dirty="0">
                <a:solidFill>
                  <a:srgbClr val="9AA6C7"/>
                </a:solidFill>
                <a:latin typeface="Arial" pitchFamily="34" charset="0"/>
                <a:ea typeface="Arial" pitchFamily="34" charset="-122"/>
                <a:cs typeface="Arial" pitchFamily="34" charset="-120"/>
              </a:rPr>
              <a:t>Theo dõi &amp; scale</a:t>
            </a:r>
            <a:endParaRPr lang="en-US" sz="1050" dirty="0"/>
          </a:p>
        </p:txBody>
      </p:sp>
      <p:sp>
        <p:nvSpPr>
          <p:cNvPr id="18" name="Text 15"/>
          <p:cNvSpPr/>
          <p:nvPr/>
        </p:nvSpPr>
        <p:spPr>
          <a:xfrm>
            <a:off x="8321040" y="4828032"/>
            <a:ext cx="685800" cy="228600"/>
          </a:xfrm>
          <a:prstGeom prst="rect">
            <a:avLst/>
          </a:prstGeom>
          <a:noFill/>
          <a:ln/>
        </p:spPr>
        <p:txBody>
          <a:bodyPr wrap="square" lIns="0" tIns="0" rIns="0" bIns="0" rtlCol="0" anchor="ctr"/>
          <a:lstStyle/>
          <a:p>
            <a:pPr algn="r" indent="0" marL="0">
              <a:buNone/>
            </a:pPr>
            <a:r>
              <a:rPr lang="en-US" sz="900" dirty="0">
                <a:solidFill>
                  <a:srgbClr val="9AA6C7"/>
                </a:solidFill>
                <a:latin typeface="Arial" pitchFamily="34" charset="0"/>
                <a:ea typeface="Arial" pitchFamily="34" charset="-122"/>
                <a:cs typeface="Arial" pitchFamily="34" charset="-120"/>
              </a:rPr>
              <a:t>4 / 14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2A"/>
        </a:solidFill>
      </p:bgPr>
    </p:bg>
    <p:spTree>
      <p:nvGrpSpPr>
        <p:cNvPr id="1" name=""/>
        <p:cNvGrpSpPr/>
        <p:nvPr/>
      </p:nvGrpSpPr>
      <p:grpSpPr>
        <a:xfrm>
          <a:off x="0" y="0"/>
          <a:ext cx="0" cy="0"/>
          <a:chOff x="0" y="0"/>
          <a:chExt cx="0" cy="0"/>
        </a:xfrm>
      </p:grpSpPr>
      <p:sp>
        <p:nvSpPr>
          <p:cNvPr id="2" name="Shape 0"/>
          <p:cNvSpPr/>
          <p:nvPr/>
        </p:nvSpPr>
        <p:spPr>
          <a:xfrm>
            <a:off x="548640" y="402336"/>
            <a:ext cx="91440" cy="91440"/>
          </a:xfrm>
          <a:prstGeom prst="ellipse">
            <a:avLst/>
          </a:prstGeom>
          <a:solidFill>
            <a:srgbClr val="38E0FF"/>
          </a:solidFill>
          <a:ln/>
        </p:spPr>
      </p:sp>
      <p:sp>
        <p:nvSpPr>
          <p:cNvPr id="3" name="Text 1"/>
          <p:cNvSpPr/>
          <p:nvPr/>
        </p:nvSpPr>
        <p:spPr>
          <a:xfrm>
            <a:off x="713232" y="310896"/>
            <a:ext cx="7315200" cy="274320"/>
          </a:xfrm>
          <a:prstGeom prst="rect">
            <a:avLst/>
          </a:prstGeom>
          <a:noFill/>
          <a:ln/>
        </p:spPr>
        <p:txBody>
          <a:bodyPr wrap="square" lIns="0" tIns="0" rIns="0" bIns="0" rtlCol="0" anchor="ctr"/>
          <a:lstStyle/>
          <a:p>
            <a:pPr indent="0" marL="0">
              <a:buNone/>
            </a:pPr>
            <a:r>
              <a:rPr lang="en-US" sz="1100" b="1" spc="200" kern="0" dirty="0">
                <a:solidFill>
                  <a:srgbClr val="38E0FF"/>
                </a:solidFill>
                <a:latin typeface="Arial" pitchFamily="34" charset="0"/>
                <a:ea typeface="Arial" pitchFamily="34" charset="-122"/>
                <a:cs typeface="Arial" pitchFamily="34" charset="-120"/>
              </a:rPr>
              <a:t>WORKFLOW 1</a:t>
            </a:r>
            <a:endParaRPr lang="en-US" sz="1100" dirty="0"/>
          </a:p>
        </p:txBody>
      </p:sp>
      <p:sp>
        <p:nvSpPr>
          <p:cNvPr id="4" name="Text 2"/>
          <p:cNvSpPr/>
          <p:nvPr/>
        </p:nvSpPr>
        <p:spPr>
          <a:xfrm>
            <a:off x="548640" y="676656"/>
            <a:ext cx="8046720" cy="914400"/>
          </a:xfrm>
          <a:prstGeom prst="rect">
            <a:avLst/>
          </a:prstGeom>
          <a:noFill/>
          <a:ln/>
        </p:spPr>
        <p:txBody>
          <a:bodyPr wrap="square" lIns="0" tIns="0" rIns="0" bIns="0" rtlCol="0" anchor="t"/>
          <a:lstStyle/>
          <a:p>
            <a:pPr indent="0" marL="0">
              <a:lnSpc>
                <a:spcPct val="102000"/>
              </a:lnSpc>
              <a:buNone/>
            </a:pPr>
            <a:r>
              <a:rPr lang="en-US" sz="3000" b="1" dirty="0">
                <a:solidFill>
                  <a:srgbClr val="F6F8FF"/>
                </a:solidFill>
                <a:latin typeface="Arial" pitchFamily="34" charset="0"/>
                <a:ea typeface="Arial" pitchFamily="34" charset="-122"/>
                <a:cs typeface="Arial" pitchFamily="34" charset="-120"/>
              </a:rPr>
              <a:t>Ý tưởng → </a:t>
            </a:r>
            <a:pPr indent="0" marL="0">
              <a:lnSpc>
                <a:spcPct val="102000"/>
              </a:lnSpc>
              <a:buNone/>
            </a:pPr>
            <a:r>
              <a:rPr lang="en-US" sz="3000" b="1" dirty="0">
                <a:solidFill>
                  <a:srgbClr val="38E0FF"/>
                </a:solidFill>
                <a:latin typeface="Arial" pitchFamily="34" charset="0"/>
                <a:ea typeface="Arial" pitchFamily="34" charset="-122"/>
                <a:cs typeface="Arial" pitchFamily="34" charset="-120"/>
              </a:rPr>
              <a:t>App sẵn sàng kinh doanh</a:t>
            </a:r>
            <a:endParaRPr lang="en-US" sz="3000" dirty="0"/>
          </a:p>
        </p:txBody>
      </p:sp>
      <p:sp>
        <p:nvSpPr>
          <p:cNvPr id="5" name="Text 3"/>
          <p:cNvSpPr/>
          <p:nvPr/>
        </p:nvSpPr>
        <p:spPr>
          <a:xfrm>
            <a:off x="548640" y="1481328"/>
            <a:ext cx="8046720" cy="777240"/>
          </a:xfrm>
          <a:prstGeom prst="rect">
            <a:avLst/>
          </a:prstGeom>
          <a:noFill/>
          <a:ln/>
        </p:spPr>
        <p:txBody>
          <a:bodyPr wrap="square" lIns="0" tIns="0" rIns="0" bIns="0" rtlCol="0" anchor="t"/>
          <a:lstStyle/>
          <a:p>
            <a:pPr indent="0" marL="0">
              <a:lnSpc>
                <a:spcPct val="118000"/>
              </a:lnSpc>
              <a:buNone/>
            </a:pPr>
            <a:r>
              <a:rPr lang="en-US" sz="1350" dirty="0">
                <a:solidFill>
                  <a:srgbClr val="9AA6C7"/>
                </a:solidFill>
                <a:latin typeface="Arial" pitchFamily="34" charset="0"/>
                <a:ea typeface="Arial" pitchFamily="34" charset="-122"/>
                <a:cs typeface="Arial" pitchFamily="34" charset="-120"/>
              </a:rPr>
              <a:t>Người </a:t>
            </a:r>
            <a:pPr indent="0" marL="0">
              <a:lnSpc>
                <a:spcPct val="118000"/>
              </a:lnSpc>
              <a:buNone/>
            </a:pPr>
            <a:r>
              <a:rPr lang="en-US" sz="1350" b="1" dirty="0">
                <a:solidFill>
                  <a:srgbClr val="FFFFFF"/>
                </a:solidFill>
                <a:latin typeface="Arial" pitchFamily="34" charset="0"/>
                <a:ea typeface="Arial" pitchFamily="34" charset="-122"/>
                <a:cs typeface="Arial" pitchFamily="34" charset="-120"/>
              </a:rPr>
              <a:t>không cần biết code</a:t>
            </a:r>
            <a:pPr indent="0" marL="0">
              <a:lnSpc>
                <a:spcPct val="118000"/>
              </a:lnSpc>
              <a:buNone/>
            </a:pPr>
            <a:r>
              <a:rPr lang="en-US" sz="1350" dirty="0">
                <a:solidFill>
                  <a:srgbClr val="9AA6C7"/>
                </a:solidFill>
                <a:latin typeface="Arial" pitchFamily="34" charset="0"/>
                <a:ea typeface="Arial" pitchFamily="34" charset="-122"/>
                <a:cs typeface="Arial" pitchFamily="34" charset="-120"/>
              </a:rPr>
              <a:t> mô tả app bằng lời. AI Agent viết code, tự build &amp; sửa lỗi đến khi chạy — rồi build + QA từ xa ngay trong browser. Ra app đã kiểm thử, sẵn sàng phát hành.</a:t>
            </a:r>
            <a:endParaRPr lang="en-US" sz="1350" dirty="0"/>
          </a:p>
        </p:txBody>
      </p:sp>
      <p:sp>
        <p:nvSpPr>
          <p:cNvPr id="6" name="Shape 4"/>
          <p:cNvSpPr/>
          <p:nvPr/>
        </p:nvSpPr>
        <p:spPr>
          <a:xfrm>
            <a:off x="548640" y="2514600"/>
            <a:ext cx="2499360" cy="2240280"/>
          </a:xfrm>
          <a:prstGeom prst="roundRect">
            <a:avLst>
              <a:gd name="adj" fmla="val 5306"/>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7" name="Text 5"/>
          <p:cNvSpPr/>
          <p:nvPr/>
        </p:nvSpPr>
        <p:spPr>
          <a:xfrm>
            <a:off x="768096" y="2697480"/>
            <a:ext cx="2060448" cy="219456"/>
          </a:xfrm>
          <a:prstGeom prst="rect">
            <a:avLst/>
          </a:prstGeom>
          <a:noFill/>
          <a:ln/>
        </p:spPr>
        <p:txBody>
          <a:bodyPr wrap="square" lIns="0" tIns="0" rIns="0" bIns="0" rtlCol="0" anchor="ctr"/>
          <a:lstStyle/>
          <a:p>
            <a:pPr indent="0" marL="0">
              <a:buNone/>
            </a:pPr>
            <a:r>
              <a:rPr lang="en-US" sz="1000" b="1" spc="100" kern="0" dirty="0">
                <a:solidFill>
                  <a:srgbClr val="38E0FF"/>
                </a:solidFill>
                <a:latin typeface="Arial" pitchFamily="34" charset="0"/>
                <a:ea typeface="Arial" pitchFamily="34" charset="-122"/>
                <a:cs typeface="Arial" pitchFamily="34" charset="-120"/>
              </a:rPr>
              <a:t>TỪ Ý TƯỞNG</a:t>
            </a:r>
            <a:endParaRPr lang="en-US" sz="1000" dirty="0"/>
          </a:p>
        </p:txBody>
      </p:sp>
      <p:sp>
        <p:nvSpPr>
          <p:cNvPr id="8" name="Text 6"/>
          <p:cNvSpPr/>
          <p:nvPr/>
        </p:nvSpPr>
        <p:spPr>
          <a:xfrm>
            <a:off x="768096" y="2971800"/>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Self-healing build loop</a:t>
            </a:r>
            <a:endParaRPr lang="en-US" sz="1400" dirty="0"/>
          </a:p>
        </p:txBody>
      </p:sp>
      <p:sp>
        <p:nvSpPr>
          <p:cNvPr id="9" name="Text 7"/>
          <p:cNvSpPr/>
          <p:nvPr/>
        </p:nvSpPr>
        <p:spPr>
          <a:xfrm>
            <a:off x="768096" y="3355848"/>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Mô tả app bằng lời → AI Agent viết code → build → đọc lỗi → tự sửa → lặp đến khi chạy.</a:t>
            </a:r>
            <a:endParaRPr lang="en-US" sz="1150" dirty="0"/>
          </a:p>
        </p:txBody>
      </p:sp>
      <p:sp>
        <p:nvSpPr>
          <p:cNvPr id="10" name="Shape 8"/>
          <p:cNvSpPr/>
          <p:nvPr/>
        </p:nvSpPr>
        <p:spPr>
          <a:xfrm>
            <a:off x="768096" y="4297680"/>
            <a:ext cx="1523390" cy="274320"/>
          </a:xfrm>
          <a:prstGeom prst="roundRect">
            <a:avLst>
              <a:gd name="adj" fmla="val 50000"/>
            </a:avLst>
          </a:prstGeom>
          <a:solidFill>
            <a:srgbClr val="1B2547"/>
          </a:solidFill>
          <a:ln w="9525">
            <a:solidFill>
              <a:srgbClr val="3A4570"/>
            </a:solidFill>
            <a:prstDash val="solid"/>
          </a:ln>
        </p:spPr>
      </p:sp>
      <p:sp>
        <p:nvSpPr>
          <p:cNvPr id="11" name="Text 9"/>
          <p:cNvSpPr/>
          <p:nvPr/>
        </p:nvSpPr>
        <p:spPr>
          <a:xfrm>
            <a:off x="768096" y="4297680"/>
            <a:ext cx="1523390" cy="274320"/>
          </a:xfrm>
          <a:prstGeom prst="rect">
            <a:avLst/>
          </a:prstGeom>
          <a:noFill/>
          <a:ln/>
        </p:spPr>
        <p:txBody>
          <a:bodyPr wrap="square" lIns="0" tIns="0" rIns="0" bIns="0" rtlCol="0" anchor="ctr"/>
          <a:lstStyle/>
          <a:p>
            <a:pPr algn="ctr" indent="0" marL="0">
              <a:buNone/>
            </a:pPr>
            <a:r>
              <a:rPr lang="en-US" sz="900" b="1" dirty="0">
                <a:solidFill>
                  <a:srgbClr val="DFE6FF"/>
                </a:solidFill>
                <a:latin typeface="Arial" pitchFamily="34" charset="0"/>
                <a:ea typeface="Arial" pitchFamily="34" charset="-122"/>
                <a:cs typeface="Arial" pitchFamily="34" charset="-120"/>
              </a:rPr>
              <a:t>Xưởng App · Build</a:t>
            </a:r>
            <a:endParaRPr lang="en-US" sz="900" dirty="0"/>
          </a:p>
        </p:txBody>
      </p:sp>
      <p:sp>
        <p:nvSpPr>
          <p:cNvPr id="12" name="Shape 10"/>
          <p:cNvSpPr/>
          <p:nvPr/>
        </p:nvSpPr>
        <p:spPr>
          <a:xfrm>
            <a:off x="3322320" y="2514600"/>
            <a:ext cx="2499360" cy="2240280"/>
          </a:xfrm>
          <a:prstGeom prst="roundRect">
            <a:avLst>
              <a:gd name="adj" fmla="val 5306"/>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13" name="Text 11"/>
          <p:cNvSpPr/>
          <p:nvPr/>
        </p:nvSpPr>
        <p:spPr>
          <a:xfrm>
            <a:off x="3541776" y="2697480"/>
            <a:ext cx="2060448" cy="219456"/>
          </a:xfrm>
          <a:prstGeom prst="rect">
            <a:avLst/>
          </a:prstGeom>
          <a:noFill/>
          <a:ln/>
        </p:spPr>
        <p:txBody>
          <a:bodyPr wrap="square" lIns="0" tIns="0" rIns="0" bIns="0" rtlCol="0" anchor="ctr"/>
          <a:lstStyle/>
          <a:p>
            <a:pPr indent="0" marL="0">
              <a:buNone/>
            </a:pPr>
            <a:r>
              <a:rPr lang="en-US" sz="1000" b="1" spc="100" kern="0" dirty="0">
                <a:solidFill>
                  <a:srgbClr val="38E0FF"/>
                </a:solidFill>
                <a:latin typeface="Arial" pitchFamily="34" charset="0"/>
                <a:ea typeface="Arial" pitchFamily="34" charset="-122"/>
                <a:cs typeface="Arial" pitchFamily="34" charset="-120"/>
              </a:rPr>
              <a:t>BUILD &amp; QA</a:t>
            </a:r>
            <a:endParaRPr lang="en-US" sz="1000" dirty="0"/>
          </a:p>
        </p:txBody>
      </p:sp>
      <p:sp>
        <p:nvSpPr>
          <p:cNvPr id="14" name="Text 12"/>
          <p:cNvSpPr/>
          <p:nvPr/>
        </p:nvSpPr>
        <p:spPr>
          <a:xfrm>
            <a:off x="3541776" y="2971800"/>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Preview + Auto-QA trong browser</a:t>
            </a:r>
            <a:endParaRPr lang="en-US" sz="1400" dirty="0"/>
          </a:p>
        </p:txBody>
      </p:sp>
      <p:sp>
        <p:nvSpPr>
          <p:cNvPr id="15" name="Text 13"/>
          <p:cNvSpPr/>
          <p:nvPr/>
        </p:nvSpPr>
        <p:spPr>
          <a:xfrm>
            <a:off x="3541776" y="3575304"/>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Build iOS + Android từ xa; simulator/emulator stream vào web, AI tự chụp màn, dò lỗi, test luồng.</a:t>
            </a:r>
            <a:endParaRPr lang="en-US" sz="1150" dirty="0"/>
          </a:p>
        </p:txBody>
      </p:sp>
      <p:sp>
        <p:nvSpPr>
          <p:cNvPr id="16" name="Shape 14"/>
          <p:cNvSpPr/>
          <p:nvPr/>
        </p:nvSpPr>
        <p:spPr>
          <a:xfrm>
            <a:off x="3541776" y="4297680"/>
            <a:ext cx="1309421" cy="274320"/>
          </a:xfrm>
          <a:prstGeom prst="roundRect">
            <a:avLst>
              <a:gd name="adj" fmla="val 50000"/>
            </a:avLst>
          </a:prstGeom>
          <a:solidFill>
            <a:srgbClr val="1B2547"/>
          </a:solidFill>
          <a:ln w="9525">
            <a:solidFill>
              <a:srgbClr val="3A4570"/>
            </a:solidFill>
            <a:prstDash val="solid"/>
          </a:ln>
        </p:spPr>
      </p:sp>
      <p:sp>
        <p:nvSpPr>
          <p:cNvPr id="17" name="Text 15"/>
          <p:cNvSpPr/>
          <p:nvPr/>
        </p:nvSpPr>
        <p:spPr>
          <a:xfrm>
            <a:off x="3541776" y="4297680"/>
            <a:ext cx="1309421" cy="274320"/>
          </a:xfrm>
          <a:prstGeom prst="rect">
            <a:avLst/>
          </a:prstGeom>
          <a:noFill/>
          <a:ln/>
        </p:spPr>
        <p:txBody>
          <a:bodyPr wrap="square" lIns="0" tIns="0" rIns="0" bIns="0" rtlCol="0" anchor="ctr"/>
          <a:lstStyle/>
          <a:p>
            <a:pPr algn="ctr" indent="0" marL="0">
              <a:buNone/>
            </a:pPr>
            <a:r>
              <a:rPr lang="en-US" sz="900" b="1" dirty="0">
                <a:solidFill>
                  <a:srgbClr val="DFE6FF"/>
                </a:solidFill>
                <a:latin typeface="Arial" pitchFamily="34" charset="0"/>
                <a:ea typeface="Arial" pitchFamily="34" charset="-122"/>
                <a:cs typeface="Arial" pitchFamily="34" charset="-120"/>
              </a:rPr>
              <a:t>Xưởng App · QA</a:t>
            </a:r>
            <a:endParaRPr lang="en-US" sz="900" dirty="0"/>
          </a:p>
        </p:txBody>
      </p:sp>
      <p:sp>
        <p:nvSpPr>
          <p:cNvPr id="18" name="Shape 16"/>
          <p:cNvSpPr/>
          <p:nvPr/>
        </p:nvSpPr>
        <p:spPr>
          <a:xfrm>
            <a:off x="6096000" y="2514600"/>
            <a:ext cx="2499360" cy="2240280"/>
          </a:xfrm>
          <a:prstGeom prst="roundRect">
            <a:avLst>
              <a:gd name="adj" fmla="val 5306"/>
            </a:avLst>
          </a:prstGeom>
          <a:solidFill>
            <a:srgbClr val="141A3C"/>
          </a:solidFill>
          <a:ln w="12700">
            <a:solidFill>
              <a:srgbClr val="2E6B86"/>
            </a:solidFill>
            <a:prstDash val="solid"/>
          </a:ln>
          <a:effectLst>
            <a:outerShdw sx="100000" sy="100000" kx="0" ky="0" algn="bl" rotWithShape="0" blurRad="101600" dist="25400" dir="5400000">
              <a:srgbClr val="000000">
                <a:alpha val="28000"/>
              </a:srgbClr>
            </a:outerShdw>
          </a:effectLst>
        </p:spPr>
      </p:sp>
      <p:sp>
        <p:nvSpPr>
          <p:cNvPr id="19" name="Text 17"/>
          <p:cNvSpPr/>
          <p:nvPr/>
        </p:nvSpPr>
        <p:spPr>
          <a:xfrm>
            <a:off x="6315456" y="2697480"/>
            <a:ext cx="2060448" cy="219456"/>
          </a:xfrm>
          <a:prstGeom prst="rect">
            <a:avLst/>
          </a:prstGeom>
          <a:noFill/>
          <a:ln/>
        </p:spPr>
        <p:txBody>
          <a:bodyPr wrap="square" lIns="0" tIns="0" rIns="0" bIns="0" rtlCol="0" anchor="ctr"/>
          <a:lstStyle/>
          <a:p>
            <a:pPr indent="0" marL="0">
              <a:buNone/>
            </a:pPr>
            <a:r>
              <a:rPr lang="en-US" sz="1000" b="1" spc="100" kern="0" dirty="0">
                <a:solidFill>
                  <a:srgbClr val="38E0FF"/>
                </a:solidFill>
                <a:latin typeface="Arial" pitchFamily="34" charset="0"/>
                <a:ea typeface="Arial" pitchFamily="34" charset="-122"/>
                <a:cs typeface="Arial" pitchFamily="34" charset="-120"/>
              </a:rPr>
              <a:t>KẾT QUẢ</a:t>
            </a:r>
            <a:endParaRPr lang="en-US" sz="1000" dirty="0"/>
          </a:p>
        </p:txBody>
      </p:sp>
      <p:sp>
        <p:nvSpPr>
          <p:cNvPr id="20" name="Text 18"/>
          <p:cNvSpPr/>
          <p:nvPr/>
        </p:nvSpPr>
        <p:spPr>
          <a:xfrm>
            <a:off x="6315456" y="2971800"/>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Tuần → Giờ, sẵn sàng phát hành</a:t>
            </a:r>
            <a:endParaRPr lang="en-US" sz="1400" dirty="0"/>
          </a:p>
        </p:txBody>
      </p:sp>
      <p:sp>
        <p:nvSpPr>
          <p:cNvPr id="21" name="Text 19"/>
          <p:cNvSpPr/>
          <p:nvPr/>
        </p:nvSpPr>
        <p:spPr>
          <a:xfrm>
            <a:off x="6315456" y="3575304"/>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Từ mô tả đến app đã QA — không cần dev ngồi từ đầu, không cần máy Mac/Xcode.</a:t>
            </a:r>
            <a:endParaRPr lang="en-US" sz="1150" dirty="0"/>
          </a:p>
        </p:txBody>
      </p:sp>
      <p:sp>
        <p:nvSpPr>
          <p:cNvPr id="23" name="Text 20"/>
          <p:cNvSpPr/>
          <p:nvPr/>
        </p:nvSpPr>
        <p:spPr>
          <a:xfrm>
            <a:off x="8321040" y="4828032"/>
            <a:ext cx="685800" cy="228600"/>
          </a:xfrm>
          <a:prstGeom prst="rect">
            <a:avLst/>
          </a:prstGeom>
          <a:noFill/>
          <a:ln/>
        </p:spPr>
        <p:txBody>
          <a:bodyPr wrap="square" lIns="0" tIns="0" rIns="0" bIns="0" rtlCol="0" anchor="ctr"/>
          <a:lstStyle/>
          <a:p>
            <a:pPr algn="r" indent="0" marL="0">
              <a:buNone/>
            </a:pPr>
            <a:r>
              <a:rPr lang="en-US" sz="900" dirty="0">
                <a:solidFill>
                  <a:srgbClr val="9AA6C7"/>
                </a:solidFill>
                <a:latin typeface="Arial" pitchFamily="34" charset="0"/>
                <a:ea typeface="Arial" pitchFamily="34" charset="-122"/>
                <a:cs typeface="Arial" pitchFamily="34" charset="-120"/>
              </a:rPr>
              <a:t>5 / 14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2A"/>
        </a:solidFill>
      </p:bgPr>
    </p:bg>
    <p:spTree>
      <p:nvGrpSpPr>
        <p:cNvPr id="1" name=""/>
        <p:cNvGrpSpPr/>
        <p:nvPr/>
      </p:nvGrpSpPr>
      <p:grpSpPr>
        <a:xfrm>
          <a:off x="0" y="0"/>
          <a:ext cx="0" cy="0"/>
          <a:chOff x="0" y="0"/>
          <a:chExt cx="0" cy="0"/>
        </a:xfrm>
      </p:grpSpPr>
      <p:sp>
        <p:nvSpPr>
          <p:cNvPr id="2" name="Shape 0"/>
          <p:cNvSpPr/>
          <p:nvPr/>
        </p:nvSpPr>
        <p:spPr>
          <a:xfrm>
            <a:off x="548640" y="402336"/>
            <a:ext cx="91440" cy="91440"/>
          </a:xfrm>
          <a:prstGeom prst="ellipse">
            <a:avLst/>
          </a:prstGeom>
          <a:solidFill>
            <a:srgbClr val="38E0FF"/>
          </a:solidFill>
          <a:ln/>
        </p:spPr>
      </p:sp>
      <p:sp>
        <p:nvSpPr>
          <p:cNvPr id="3" name="Text 1"/>
          <p:cNvSpPr/>
          <p:nvPr/>
        </p:nvSpPr>
        <p:spPr>
          <a:xfrm>
            <a:off x="713232" y="310896"/>
            <a:ext cx="7315200" cy="274320"/>
          </a:xfrm>
          <a:prstGeom prst="rect">
            <a:avLst/>
          </a:prstGeom>
          <a:noFill/>
          <a:ln/>
        </p:spPr>
        <p:txBody>
          <a:bodyPr wrap="square" lIns="0" tIns="0" rIns="0" bIns="0" rtlCol="0" anchor="ctr"/>
          <a:lstStyle/>
          <a:p>
            <a:pPr indent="0" marL="0">
              <a:buNone/>
            </a:pPr>
            <a:r>
              <a:rPr lang="en-US" sz="1100" b="1" spc="200" kern="0" dirty="0">
                <a:solidFill>
                  <a:srgbClr val="38E0FF"/>
                </a:solidFill>
                <a:latin typeface="Arial" pitchFamily="34" charset="0"/>
                <a:ea typeface="Arial" pitchFamily="34" charset="-122"/>
                <a:cs typeface="Arial" pitchFamily="34" charset="-120"/>
              </a:rPr>
              <a:t>CASE STUDY · WORKFLOW 1</a:t>
            </a:r>
            <a:endParaRPr lang="en-US" sz="1100" dirty="0"/>
          </a:p>
        </p:txBody>
      </p:sp>
      <p:sp>
        <p:nvSpPr>
          <p:cNvPr id="4" name="Text 2"/>
          <p:cNvSpPr/>
          <p:nvPr/>
        </p:nvSpPr>
        <p:spPr>
          <a:xfrm>
            <a:off x="548640" y="676656"/>
            <a:ext cx="8046720" cy="914400"/>
          </a:xfrm>
          <a:prstGeom prst="rect">
            <a:avLst/>
          </a:prstGeom>
          <a:noFill/>
          <a:ln/>
        </p:spPr>
        <p:txBody>
          <a:bodyPr wrap="square" lIns="0" tIns="0" rIns="0" bIns="0" rtlCol="0" anchor="t"/>
          <a:lstStyle/>
          <a:p>
            <a:pPr indent="0" marL="0">
              <a:lnSpc>
                <a:spcPct val="102000"/>
              </a:lnSpc>
              <a:buNone/>
            </a:pPr>
            <a:r>
              <a:rPr lang="en-US" sz="3000" b="1" dirty="0">
                <a:solidFill>
                  <a:srgbClr val="F6F8FF"/>
                </a:solidFill>
                <a:latin typeface="Arial" pitchFamily="34" charset="0"/>
                <a:ea typeface="Arial" pitchFamily="34" charset="-122"/>
                <a:cs typeface="Arial" pitchFamily="34" charset="-120"/>
              </a:rPr>
              <a:t>Lingua — app học tiếng Anh</a:t>
            </a:r>
            <a:endParaRPr lang="en-US" sz="3000" dirty="0"/>
          </a:p>
        </p:txBody>
      </p:sp>
      <p:sp>
        <p:nvSpPr>
          <p:cNvPr id="5" name="Text 3"/>
          <p:cNvSpPr/>
          <p:nvPr/>
        </p:nvSpPr>
        <p:spPr>
          <a:xfrm>
            <a:off x="548640" y="1554480"/>
            <a:ext cx="7955280" cy="777240"/>
          </a:xfrm>
          <a:prstGeom prst="rect">
            <a:avLst/>
          </a:prstGeom>
          <a:noFill/>
          <a:ln/>
        </p:spPr>
        <p:txBody>
          <a:bodyPr wrap="square" lIns="0" tIns="0" rIns="0" bIns="0" rtlCol="0" anchor="t"/>
          <a:lstStyle/>
          <a:p>
            <a:pPr indent="0" marL="0">
              <a:lnSpc>
                <a:spcPct val="118000"/>
              </a:lnSpc>
              <a:buNone/>
            </a:pPr>
            <a:r>
              <a:rPr lang="en-US" sz="1350" dirty="0">
                <a:solidFill>
                  <a:srgbClr val="9AA6C7"/>
                </a:solidFill>
                <a:latin typeface="Arial" pitchFamily="34" charset="0"/>
                <a:ea typeface="Arial" pitchFamily="34" charset="-122"/>
                <a:cs typeface="Arial" pitchFamily="34" charset="-120"/>
              </a:rPr>
              <a:t>Dựng trọn vẹn qua </a:t>
            </a:r>
            <a:pPr indent="0" marL="0">
              <a:lnSpc>
                <a:spcPct val="118000"/>
              </a:lnSpc>
              <a:buNone/>
            </a:pPr>
            <a:r>
              <a:rPr lang="en-US" sz="1350" b="1" dirty="0">
                <a:solidFill>
                  <a:srgbClr val="FFFFFF"/>
                </a:solidFill>
                <a:latin typeface="Arial" pitchFamily="34" charset="0"/>
                <a:ea typeface="Arial" pitchFamily="34" charset="-122"/>
                <a:cs typeface="Arial" pitchFamily="34" charset="-120"/>
              </a:rPr>
              <a:t>Xưởng App</a:t>
            </a:r>
            <a:pPr indent="0" marL="0">
              <a:lnSpc>
                <a:spcPct val="118000"/>
              </a:lnSpc>
              <a:buNone/>
            </a:pPr>
            <a:r>
              <a:rPr lang="en-US" sz="1350" dirty="0">
                <a:solidFill>
                  <a:srgbClr val="9AA6C7"/>
                </a:solidFill>
                <a:latin typeface="Arial" pitchFamily="34" charset="0"/>
                <a:ea typeface="Arial" pitchFamily="34" charset="-122"/>
                <a:cs typeface="Arial" pitchFamily="34" charset="-120"/>
              </a:rPr>
              <a:t> — AI Agent viết code, tự build &amp; QA. Một app do AI dựng, đã ship thật và </a:t>
            </a:r>
            <a:pPr indent="0" marL="0">
              <a:lnSpc>
                <a:spcPct val="118000"/>
              </a:lnSpc>
              <a:buNone/>
            </a:pPr>
            <a:r>
              <a:rPr lang="en-US" sz="1350" b="1" dirty="0">
                <a:solidFill>
                  <a:srgbClr val="FFFFFF"/>
                </a:solidFill>
                <a:latin typeface="Arial" pitchFamily="34" charset="0"/>
                <a:ea typeface="Arial" pitchFamily="34" charset="-122"/>
                <a:cs typeface="Arial" pitchFamily="34" charset="-120"/>
              </a:rPr>
              <a:t>chạy có lãi</a:t>
            </a:r>
            <a:pPr indent="0" marL="0">
              <a:lnSpc>
                <a:spcPct val="118000"/>
              </a:lnSpc>
              <a:buNone/>
            </a:pPr>
            <a:r>
              <a:rPr lang="en-US" sz="1350" dirty="0">
                <a:solidFill>
                  <a:srgbClr val="9AA6C7"/>
                </a:solidFill>
                <a:latin typeface="Arial" pitchFamily="34" charset="0"/>
                <a:ea typeface="Arial" pitchFamily="34" charset="-122"/>
                <a:cs typeface="Arial" pitchFamily="34" charset="-120"/>
              </a:rPr>
              <a:t>.</a:t>
            </a:r>
            <a:endParaRPr lang="en-US" sz="1350" dirty="0"/>
          </a:p>
        </p:txBody>
      </p:sp>
      <p:sp>
        <p:nvSpPr>
          <p:cNvPr id="6" name="Text 4"/>
          <p:cNvSpPr/>
          <p:nvPr/>
        </p:nvSpPr>
        <p:spPr>
          <a:xfrm>
            <a:off x="548640" y="2880360"/>
            <a:ext cx="2407920" cy="882869"/>
          </a:xfrm>
          <a:prstGeom prst="rect">
            <a:avLst/>
          </a:prstGeom>
          <a:noFill/>
          <a:ln/>
        </p:spPr>
        <p:txBody>
          <a:bodyPr wrap="square" lIns="0" tIns="0" rIns="0" bIns="0" rtlCol="0" anchor="t"/>
          <a:lstStyle/>
          <a:p>
            <a:pPr algn="l" indent="0" marL="0">
              <a:buNone/>
            </a:pPr>
            <a:r>
              <a:rPr lang="en-US" sz="5600" b="1" dirty="0">
                <a:solidFill>
                  <a:srgbClr val="38E0FF"/>
                </a:solidFill>
                <a:latin typeface="Arial" pitchFamily="34" charset="0"/>
                <a:ea typeface="Arial" pitchFamily="34" charset="-122"/>
                <a:cs typeface="Arial" pitchFamily="34" charset="-120"/>
              </a:rPr>
              <a:t>3 ngày</a:t>
            </a:r>
            <a:endParaRPr lang="en-US" sz="5600" dirty="0"/>
          </a:p>
        </p:txBody>
      </p:sp>
      <p:sp>
        <p:nvSpPr>
          <p:cNvPr id="7" name="Text 5"/>
          <p:cNvSpPr/>
          <p:nvPr/>
        </p:nvSpPr>
        <p:spPr>
          <a:xfrm>
            <a:off x="548640" y="3781517"/>
            <a:ext cx="2407920" cy="566928"/>
          </a:xfrm>
          <a:prstGeom prst="rect">
            <a:avLst/>
          </a:prstGeom>
          <a:noFill/>
          <a:ln/>
        </p:spPr>
        <p:txBody>
          <a:bodyPr wrap="square" lIns="0" tIns="0" rIns="0" bIns="0" rtlCol="0" anchor="t"/>
          <a:lstStyle/>
          <a:p>
            <a:pPr algn="l" indent="0" marL="0">
              <a:lnSpc>
                <a:spcPct val="112000"/>
              </a:lnSpc>
              <a:buNone/>
            </a:pPr>
            <a:r>
              <a:rPr lang="en-US" sz="1150" dirty="0">
                <a:solidFill>
                  <a:srgbClr val="9AA6C7"/>
                </a:solidFill>
                <a:latin typeface="Arial" pitchFamily="34" charset="0"/>
                <a:ea typeface="Arial" pitchFamily="34" charset="-122"/>
                <a:cs typeface="Arial" pitchFamily="34" charset="-120"/>
              </a:rPr>
              <a:t>từ ý tưởng đến lên App Store</a:t>
            </a:r>
            <a:endParaRPr lang="en-US" sz="1150" dirty="0"/>
          </a:p>
        </p:txBody>
      </p:sp>
      <p:sp>
        <p:nvSpPr>
          <p:cNvPr id="8" name="Text 6"/>
          <p:cNvSpPr/>
          <p:nvPr/>
        </p:nvSpPr>
        <p:spPr>
          <a:xfrm>
            <a:off x="3230880" y="2880360"/>
            <a:ext cx="2407920" cy="882869"/>
          </a:xfrm>
          <a:prstGeom prst="rect">
            <a:avLst/>
          </a:prstGeom>
          <a:noFill/>
          <a:ln/>
        </p:spPr>
        <p:txBody>
          <a:bodyPr wrap="square" lIns="0" tIns="0" rIns="0" bIns="0" rtlCol="0" anchor="t"/>
          <a:lstStyle/>
          <a:p>
            <a:pPr algn="l" indent="0" marL="0">
              <a:buNone/>
            </a:pPr>
            <a:r>
              <a:rPr lang="en-US" sz="5600" b="1" dirty="0">
                <a:solidFill>
                  <a:srgbClr val="38E0FF"/>
                </a:solidFill>
                <a:latin typeface="Arial" pitchFamily="34" charset="0"/>
                <a:ea typeface="Arial" pitchFamily="34" charset="-122"/>
                <a:cs typeface="Arial" pitchFamily="34" charset="-120"/>
              </a:rPr>
              <a:t>57K+</a:t>
            </a:r>
            <a:endParaRPr lang="en-US" sz="5600" dirty="0"/>
          </a:p>
        </p:txBody>
      </p:sp>
      <p:sp>
        <p:nvSpPr>
          <p:cNvPr id="9" name="Text 7"/>
          <p:cNvSpPr/>
          <p:nvPr/>
        </p:nvSpPr>
        <p:spPr>
          <a:xfrm>
            <a:off x="3230880" y="3781517"/>
            <a:ext cx="2407920" cy="566928"/>
          </a:xfrm>
          <a:prstGeom prst="rect">
            <a:avLst/>
          </a:prstGeom>
          <a:noFill/>
          <a:ln/>
        </p:spPr>
        <p:txBody>
          <a:bodyPr wrap="square" lIns="0" tIns="0" rIns="0" bIns="0" rtlCol="0" anchor="t"/>
          <a:lstStyle/>
          <a:p>
            <a:pPr algn="l" indent="0" marL="0">
              <a:lnSpc>
                <a:spcPct val="112000"/>
              </a:lnSpc>
              <a:buNone/>
            </a:pPr>
            <a:r>
              <a:rPr lang="en-US" sz="1150" dirty="0">
                <a:solidFill>
                  <a:srgbClr val="9AA6C7"/>
                </a:solidFill>
                <a:latin typeface="Arial" pitchFamily="34" charset="0"/>
                <a:ea typeface="Arial" pitchFamily="34" charset="-122"/>
                <a:cs typeface="Arial" pitchFamily="34" charset="-120"/>
              </a:rPr>
              <a:t>lượt tải (từ 28/04/2026)</a:t>
            </a:r>
            <a:endParaRPr lang="en-US" sz="1150" dirty="0"/>
          </a:p>
        </p:txBody>
      </p:sp>
      <p:sp>
        <p:nvSpPr>
          <p:cNvPr id="10" name="Text 8"/>
          <p:cNvSpPr/>
          <p:nvPr/>
        </p:nvSpPr>
        <p:spPr>
          <a:xfrm>
            <a:off x="5913120" y="2880360"/>
            <a:ext cx="2407920" cy="882869"/>
          </a:xfrm>
          <a:prstGeom prst="rect">
            <a:avLst/>
          </a:prstGeom>
          <a:noFill/>
          <a:ln/>
        </p:spPr>
        <p:txBody>
          <a:bodyPr wrap="square" lIns="0" tIns="0" rIns="0" bIns="0" rtlCol="0" anchor="t"/>
          <a:lstStyle/>
          <a:p>
            <a:pPr algn="l" indent="0" marL="0">
              <a:buNone/>
            </a:pPr>
            <a:r>
              <a:rPr lang="en-US" sz="5600" b="1" dirty="0">
                <a:solidFill>
                  <a:srgbClr val="38E0FF"/>
                </a:solidFill>
                <a:latin typeface="Arial" pitchFamily="34" charset="0"/>
                <a:ea typeface="Arial" pitchFamily="34" charset="-122"/>
                <a:cs typeface="Arial" pitchFamily="34" charset="-120"/>
              </a:rPr>
              <a:t>111%</a:t>
            </a:r>
            <a:endParaRPr lang="en-US" sz="5600" dirty="0"/>
          </a:p>
        </p:txBody>
      </p:sp>
      <p:sp>
        <p:nvSpPr>
          <p:cNvPr id="11" name="Text 9"/>
          <p:cNvSpPr/>
          <p:nvPr/>
        </p:nvSpPr>
        <p:spPr>
          <a:xfrm>
            <a:off x="5913120" y="3781517"/>
            <a:ext cx="2407920" cy="566928"/>
          </a:xfrm>
          <a:prstGeom prst="rect">
            <a:avLst/>
          </a:prstGeom>
          <a:noFill/>
          <a:ln/>
        </p:spPr>
        <p:txBody>
          <a:bodyPr wrap="square" lIns="0" tIns="0" rIns="0" bIns="0" rtlCol="0" anchor="t"/>
          <a:lstStyle/>
          <a:p>
            <a:pPr algn="l" indent="0" marL="0">
              <a:lnSpc>
                <a:spcPct val="112000"/>
              </a:lnSpc>
              <a:buNone/>
            </a:pPr>
            <a:r>
              <a:rPr lang="en-US" sz="1150" dirty="0">
                <a:solidFill>
                  <a:srgbClr val="9AA6C7"/>
                </a:solidFill>
                <a:latin typeface="Arial" pitchFamily="34" charset="0"/>
                <a:ea typeface="Arial" pitchFamily="34" charset="-122"/>
                <a:cs typeface="Arial" pitchFamily="34" charset="-120"/>
              </a:rPr>
              <a:t>ROAS — đã vượt hoà vốn</a:t>
            </a:r>
            <a:endParaRPr lang="en-US" sz="1150" dirty="0"/>
          </a:p>
        </p:txBody>
      </p:sp>
      <p:sp>
        <p:nvSpPr>
          <p:cNvPr id="12" name="Text 10"/>
          <p:cNvSpPr/>
          <p:nvPr/>
        </p:nvSpPr>
        <p:spPr>
          <a:xfrm>
            <a:off x="548640" y="4526280"/>
            <a:ext cx="7315200" cy="274320"/>
          </a:xfrm>
          <a:prstGeom prst="rect">
            <a:avLst/>
          </a:prstGeom>
          <a:noFill/>
          <a:ln/>
        </p:spPr>
        <p:txBody>
          <a:bodyPr wrap="square" lIns="0" tIns="0" rIns="0" bIns="0" rtlCol="0" anchor="ctr"/>
          <a:lstStyle/>
          <a:p>
            <a:pPr indent="0" marL="0">
              <a:buNone/>
            </a:pPr>
            <a:r>
              <a:rPr lang="en-US" sz="1000" i="1" dirty="0">
                <a:solidFill>
                  <a:srgbClr val="9AA6C7"/>
                </a:solidFill>
                <a:latin typeface="Arial" pitchFamily="34" charset="0"/>
                <a:ea typeface="Arial" pitchFamily="34" charset="-122"/>
                <a:cs typeface="Arial" pitchFamily="34" charset="-120"/>
              </a:rPr>
              <a:t>Số liệu vận hành thực tế · 28/04 – 10/07/2026</a:t>
            </a:r>
            <a:endParaRPr lang="en-US" sz="1000" dirty="0"/>
          </a:p>
        </p:txBody>
      </p:sp>
      <p:sp>
        <p:nvSpPr>
          <p:cNvPr id="14" name="Text 11"/>
          <p:cNvSpPr/>
          <p:nvPr/>
        </p:nvSpPr>
        <p:spPr>
          <a:xfrm>
            <a:off x="8321040" y="4828032"/>
            <a:ext cx="685800" cy="228600"/>
          </a:xfrm>
          <a:prstGeom prst="rect">
            <a:avLst/>
          </a:prstGeom>
          <a:noFill/>
          <a:ln/>
        </p:spPr>
        <p:txBody>
          <a:bodyPr wrap="square" lIns="0" tIns="0" rIns="0" bIns="0" rtlCol="0" anchor="ctr"/>
          <a:lstStyle/>
          <a:p>
            <a:pPr algn="r" indent="0" marL="0">
              <a:buNone/>
            </a:pPr>
            <a:r>
              <a:rPr lang="en-US" sz="900" dirty="0">
                <a:solidFill>
                  <a:srgbClr val="9AA6C7"/>
                </a:solidFill>
                <a:latin typeface="Arial" pitchFamily="34" charset="0"/>
                <a:ea typeface="Arial" pitchFamily="34" charset="-122"/>
                <a:cs typeface="Arial" pitchFamily="34" charset="-120"/>
              </a:rPr>
              <a:t>6 / 14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2A"/>
        </a:solidFill>
      </p:bgPr>
    </p:bg>
    <p:spTree>
      <p:nvGrpSpPr>
        <p:cNvPr id="1" name=""/>
        <p:cNvGrpSpPr/>
        <p:nvPr/>
      </p:nvGrpSpPr>
      <p:grpSpPr>
        <a:xfrm>
          <a:off x="0" y="0"/>
          <a:ext cx="0" cy="0"/>
          <a:chOff x="0" y="0"/>
          <a:chExt cx="0" cy="0"/>
        </a:xfrm>
      </p:grpSpPr>
      <p:sp>
        <p:nvSpPr>
          <p:cNvPr id="2" name="Shape 0"/>
          <p:cNvSpPr/>
          <p:nvPr/>
        </p:nvSpPr>
        <p:spPr>
          <a:xfrm>
            <a:off x="548640" y="402336"/>
            <a:ext cx="91440" cy="91440"/>
          </a:xfrm>
          <a:prstGeom prst="ellipse">
            <a:avLst/>
          </a:prstGeom>
          <a:solidFill>
            <a:srgbClr val="38E0FF"/>
          </a:solidFill>
          <a:ln/>
        </p:spPr>
      </p:sp>
      <p:sp>
        <p:nvSpPr>
          <p:cNvPr id="3" name="Text 1"/>
          <p:cNvSpPr/>
          <p:nvPr/>
        </p:nvSpPr>
        <p:spPr>
          <a:xfrm>
            <a:off x="713232" y="310896"/>
            <a:ext cx="7315200" cy="274320"/>
          </a:xfrm>
          <a:prstGeom prst="rect">
            <a:avLst/>
          </a:prstGeom>
          <a:noFill/>
          <a:ln/>
        </p:spPr>
        <p:txBody>
          <a:bodyPr wrap="square" lIns="0" tIns="0" rIns="0" bIns="0" rtlCol="0" anchor="ctr"/>
          <a:lstStyle/>
          <a:p>
            <a:pPr indent="0" marL="0">
              <a:buNone/>
            </a:pPr>
            <a:r>
              <a:rPr lang="en-US" sz="1100" b="1" spc="200" kern="0" dirty="0">
                <a:solidFill>
                  <a:srgbClr val="38E0FF"/>
                </a:solidFill>
                <a:latin typeface="Arial" pitchFamily="34" charset="0"/>
                <a:ea typeface="Arial" pitchFamily="34" charset="-122"/>
                <a:cs typeface="Arial" pitchFamily="34" charset="-120"/>
              </a:rPr>
              <a:t>WORKFLOW 2</a:t>
            </a:r>
            <a:endParaRPr lang="en-US" sz="1100" dirty="0"/>
          </a:p>
        </p:txBody>
      </p:sp>
      <p:sp>
        <p:nvSpPr>
          <p:cNvPr id="4" name="Text 2"/>
          <p:cNvSpPr/>
          <p:nvPr/>
        </p:nvSpPr>
        <p:spPr>
          <a:xfrm>
            <a:off x="548640" y="676656"/>
            <a:ext cx="8046720" cy="914400"/>
          </a:xfrm>
          <a:prstGeom prst="rect">
            <a:avLst/>
          </a:prstGeom>
          <a:noFill/>
          <a:ln/>
        </p:spPr>
        <p:txBody>
          <a:bodyPr wrap="square" lIns="0" tIns="0" rIns="0" bIns="0" rtlCol="0" anchor="t"/>
          <a:lstStyle/>
          <a:p>
            <a:pPr indent="0" marL="0">
              <a:lnSpc>
                <a:spcPct val="102000"/>
              </a:lnSpc>
              <a:buNone/>
            </a:pPr>
            <a:r>
              <a:rPr lang="en-US" sz="3000" b="1" dirty="0">
                <a:solidFill>
                  <a:srgbClr val="F6F8FF"/>
                </a:solidFill>
                <a:latin typeface="Arial" pitchFamily="34" charset="0"/>
                <a:ea typeface="Arial" pitchFamily="34" charset="-122"/>
                <a:cs typeface="Arial" pitchFamily="34" charset="-120"/>
              </a:rPr>
              <a:t>Creative Production</a:t>
            </a:r>
            <a:endParaRPr lang="en-US" sz="3000" dirty="0"/>
          </a:p>
        </p:txBody>
      </p:sp>
      <p:sp>
        <p:nvSpPr>
          <p:cNvPr id="5" name="Text 3"/>
          <p:cNvSpPr/>
          <p:nvPr/>
        </p:nvSpPr>
        <p:spPr>
          <a:xfrm>
            <a:off x="548640" y="1481328"/>
            <a:ext cx="7955280" cy="777240"/>
          </a:xfrm>
          <a:prstGeom prst="rect">
            <a:avLst/>
          </a:prstGeom>
          <a:noFill/>
          <a:ln/>
        </p:spPr>
        <p:txBody>
          <a:bodyPr wrap="square" lIns="0" tIns="0" rIns="0" bIns="0" rtlCol="0" anchor="t"/>
          <a:lstStyle/>
          <a:p>
            <a:pPr indent="0" marL="0">
              <a:lnSpc>
                <a:spcPct val="118000"/>
              </a:lnSpc>
              <a:buNone/>
            </a:pPr>
            <a:r>
              <a:rPr lang="en-US" sz="1350" dirty="0">
                <a:solidFill>
                  <a:srgbClr val="9AA6C7"/>
                </a:solidFill>
                <a:latin typeface="Arial" pitchFamily="34" charset="0"/>
                <a:ea typeface="Arial" pitchFamily="34" charset="-122"/>
                <a:cs typeface="Arial" pitchFamily="34" charset="-120"/>
              </a:rPr>
              <a:t>Dùng AI để biến insight sản phẩm thành </a:t>
            </a:r>
            <a:pPr indent="0" marL="0">
              <a:lnSpc>
                <a:spcPct val="118000"/>
              </a:lnSpc>
              <a:buNone/>
            </a:pPr>
            <a:r>
              <a:rPr lang="en-US" sz="1350" b="1" dirty="0">
                <a:solidFill>
                  <a:srgbClr val="FFFFFF"/>
                </a:solidFill>
                <a:latin typeface="Arial" pitchFamily="34" charset="0"/>
                <a:ea typeface="Arial" pitchFamily="34" charset="-122"/>
                <a:cs typeface="Arial" pitchFamily="34" charset="-120"/>
              </a:rPr>
              <a:t>hook, script và video ad variants</a:t>
            </a:r>
            <a:pPr indent="0" marL="0">
              <a:lnSpc>
                <a:spcPct val="118000"/>
              </a:lnSpc>
              <a:buNone/>
            </a:pPr>
            <a:r>
              <a:rPr lang="en-US" sz="1350" dirty="0">
                <a:solidFill>
                  <a:srgbClr val="9AA6C7"/>
                </a:solidFill>
                <a:latin typeface="Arial" pitchFamily="34" charset="0"/>
                <a:ea typeface="Arial" pitchFamily="34" charset="-122"/>
                <a:cs typeface="Arial" pitchFamily="34" charset="-120"/>
              </a:rPr>
              <a:t> — sản xuất nhanh hơn để test nhanh hơn.</a:t>
            </a:r>
            <a:endParaRPr lang="en-US" sz="1350" dirty="0"/>
          </a:p>
        </p:txBody>
      </p:sp>
      <p:sp>
        <p:nvSpPr>
          <p:cNvPr id="6" name="Shape 4"/>
          <p:cNvSpPr/>
          <p:nvPr/>
        </p:nvSpPr>
        <p:spPr>
          <a:xfrm>
            <a:off x="548640" y="2514600"/>
            <a:ext cx="1783080" cy="1234440"/>
          </a:xfrm>
          <a:prstGeom prst="roundRect">
            <a:avLst>
              <a:gd name="adj" fmla="val 7407"/>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7" name="Text 5"/>
          <p:cNvSpPr/>
          <p:nvPr/>
        </p:nvSpPr>
        <p:spPr>
          <a:xfrm>
            <a:off x="640080" y="2734056"/>
            <a:ext cx="1600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6F8FF"/>
                </a:solidFill>
                <a:latin typeface="Arial" pitchFamily="34" charset="0"/>
                <a:ea typeface="Arial" pitchFamily="34" charset="-122"/>
                <a:cs typeface="Arial" pitchFamily="34" charset="-120"/>
              </a:rPr>
              <a:t>Insight</a:t>
            </a:r>
            <a:endParaRPr lang="en-US" sz="1400" dirty="0"/>
          </a:p>
        </p:txBody>
      </p:sp>
      <p:sp>
        <p:nvSpPr>
          <p:cNvPr id="8" name="Text 6"/>
          <p:cNvSpPr/>
          <p:nvPr/>
        </p:nvSpPr>
        <p:spPr>
          <a:xfrm>
            <a:off x="621792" y="3291840"/>
            <a:ext cx="1636776" cy="384048"/>
          </a:xfrm>
          <a:prstGeom prst="rect">
            <a:avLst/>
          </a:prstGeom>
          <a:noFill/>
          <a:ln/>
        </p:spPr>
        <p:txBody>
          <a:bodyPr wrap="square" lIns="0" tIns="0" rIns="0" bIns="0" rtlCol="0" anchor="t"/>
          <a:lstStyle/>
          <a:p>
            <a:pPr algn="ctr" indent="0" marL="0">
              <a:lnSpc>
                <a:spcPct val="105000"/>
              </a:lnSpc>
              <a:buNone/>
            </a:pPr>
            <a:r>
              <a:rPr lang="en-US" sz="1050" dirty="0">
                <a:solidFill>
                  <a:srgbClr val="9AA6C7"/>
                </a:solidFill>
                <a:latin typeface="Arial" pitchFamily="34" charset="0"/>
                <a:ea typeface="Arial" pitchFamily="34" charset="-122"/>
                <a:cs typeface="Arial" pitchFamily="34" charset="-120"/>
              </a:rPr>
              <a:t>Pain point / use case</a:t>
            </a:r>
            <a:endParaRPr lang="en-US" sz="1050" dirty="0"/>
          </a:p>
        </p:txBody>
      </p:sp>
      <p:sp>
        <p:nvSpPr>
          <p:cNvPr id="9" name="Text 7"/>
          <p:cNvSpPr/>
          <p:nvPr/>
        </p:nvSpPr>
        <p:spPr>
          <a:xfrm>
            <a:off x="2301240" y="2948940"/>
            <a:ext cx="365760" cy="365760"/>
          </a:xfrm>
          <a:prstGeom prst="rect">
            <a:avLst/>
          </a:prstGeom>
          <a:noFill/>
          <a:ln/>
        </p:spPr>
        <p:txBody>
          <a:bodyPr wrap="square" lIns="0" tIns="0" rIns="0" bIns="0" rtlCol="0" anchor="ctr"/>
          <a:lstStyle/>
          <a:p>
            <a:pPr algn="ctr" indent="0" marL="0">
              <a:buNone/>
            </a:pPr>
            <a:r>
              <a:rPr lang="en-US" sz="2000" b="1" dirty="0">
                <a:solidFill>
                  <a:srgbClr val="38E0FF"/>
                </a:solidFill>
                <a:latin typeface="Arial" pitchFamily="34" charset="0"/>
                <a:ea typeface="Arial" pitchFamily="34" charset="-122"/>
                <a:cs typeface="Arial" pitchFamily="34" charset="-120"/>
              </a:rPr>
              <a:t>→</a:t>
            </a:r>
            <a:endParaRPr lang="en-US" sz="2000" dirty="0"/>
          </a:p>
        </p:txBody>
      </p:sp>
      <p:sp>
        <p:nvSpPr>
          <p:cNvPr id="10" name="Shape 8"/>
          <p:cNvSpPr/>
          <p:nvPr/>
        </p:nvSpPr>
        <p:spPr>
          <a:xfrm>
            <a:off x="2636520" y="2514600"/>
            <a:ext cx="1783080" cy="1234440"/>
          </a:xfrm>
          <a:prstGeom prst="roundRect">
            <a:avLst>
              <a:gd name="adj" fmla="val 7407"/>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11" name="Text 9"/>
          <p:cNvSpPr/>
          <p:nvPr/>
        </p:nvSpPr>
        <p:spPr>
          <a:xfrm>
            <a:off x="2727960" y="2734056"/>
            <a:ext cx="1600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6F8FF"/>
                </a:solidFill>
                <a:latin typeface="Arial" pitchFamily="34" charset="0"/>
                <a:ea typeface="Arial" pitchFamily="34" charset="-122"/>
                <a:cs typeface="Arial" pitchFamily="34" charset="-120"/>
              </a:rPr>
              <a:t>Hooks</a:t>
            </a:r>
            <a:endParaRPr lang="en-US" sz="1400" dirty="0"/>
          </a:p>
        </p:txBody>
      </p:sp>
      <p:sp>
        <p:nvSpPr>
          <p:cNvPr id="12" name="Text 10"/>
          <p:cNvSpPr/>
          <p:nvPr/>
        </p:nvSpPr>
        <p:spPr>
          <a:xfrm>
            <a:off x="2709672" y="3291840"/>
            <a:ext cx="1636776" cy="384048"/>
          </a:xfrm>
          <a:prstGeom prst="rect">
            <a:avLst/>
          </a:prstGeom>
          <a:noFill/>
          <a:ln/>
        </p:spPr>
        <p:txBody>
          <a:bodyPr wrap="square" lIns="0" tIns="0" rIns="0" bIns="0" rtlCol="0" anchor="t"/>
          <a:lstStyle/>
          <a:p>
            <a:pPr algn="ctr" indent="0" marL="0">
              <a:lnSpc>
                <a:spcPct val="105000"/>
              </a:lnSpc>
              <a:buNone/>
            </a:pPr>
            <a:r>
              <a:rPr lang="en-US" sz="1050" dirty="0">
                <a:solidFill>
                  <a:srgbClr val="9AA6C7"/>
                </a:solidFill>
                <a:latin typeface="Arial" pitchFamily="34" charset="0"/>
                <a:ea typeface="Arial" pitchFamily="34" charset="-122"/>
                <a:cs typeface="Arial" pitchFamily="34" charset="-120"/>
              </a:rPr>
              <a:t>Nhiều góc mở đầu</a:t>
            </a:r>
            <a:endParaRPr lang="en-US" sz="1050" dirty="0"/>
          </a:p>
        </p:txBody>
      </p:sp>
      <p:sp>
        <p:nvSpPr>
          <p:cNvPr id="13" name="Text 11"/>
          <p:cNvSpPr/>
          <p:nvPr/>
        </p:nvSpPr>
        <p:spPr>
          <a:xfrm>
            <a:off x="4389120" y="2948940"/>
            <a:ext cx="365760" cy="365760"/>
          </a:xfrm>
          <a:prstGeom prst="rect">
            <a:avLst/>
          </a:prstGeom>
          <a:noFill/>
          <a:ln/>
        </p:spPr>
        <p:txBody>
          <a:bodyPr wrap="square" lIns="0" tIns="0" rIns="0" bIns="0" rtlCol="0" anchor="ctr"/>
          <a:lstStyle/>
          <a:p>
            <a:pPr algn="ctr" indent="0" marL="0">
              <a:buNone/>
            </a:pPr>
            <a:r>
              <a:rPr lang="en-US" sz="2000" b="1" dirty="0">
                <a:solidFill>
                  <a:srgbClr val="38E0FF"/>
                </a:solidFill>
                <a:latin typeface="Arial" pitchFamily="34" charset="0"/>
                <a:ea typeface="Arial" pitchFamily="34" charset="-122"/>
                <a:cs typeface="Arial" pitchFamily="34" charset="-120"/>
              </a:rPr>
              <a:t>→</a:t>
            </a:r>
            <a:endParaRPr lang="en-US" sz="2000" dirty="0"/>
          </a:p>
        </p:txBody>
      </p:sp>
      <p:sp>
        <p:nvSpPr>
          <p:cNvPr id="14" name="Shape 12"/>
          <p:cNvSpPr/>
          <p:nvPr/>
        </p:nvSpPr>
        <p:spPr>
          <a:xfrm>
            <a:off x="4724400" y="2514600"/>
            <a:ext cx="1783080" cy="1234440"/>
          </a:xfrm>
          <a:prstGeom prst="roundRect">
            <a:avLst>
              <a:gd name="adj" fmla="val 7407"/>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15" name="Text 13"/>
          <p:cNvSpPr/>
          <p:nvPr/>
        </p:nvSpPr>
        <p:spPr>
          <a:xfrm>
            <a:off x="4815840" y="2734056"/>
            <a:ext cx="1600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6F8FF"/>
                </a:solidFill>
                <a:latin typeface="Arial" pitchFamily="34" charset="0"/>
                <a:ea typeface="Arial" pitchFamily="34" charset="-122"/>
                <a:cs typeface="Arial" pitchFamily="34" charset="-120"/>
              </a:rPr>
              <a:t>AI Video</a:t>
            </a:r>
            <a:endParaRPr lang="en-US" sz="1400" dirty="0"/>
          </a:p>
        </p:txBody>
      </p:sp>
      <p:sp>
        <p:nvSpPr>
          <p:cNvPr id="16" name="Text 14"/>
          <p:cNvSpPr/>
          <p:nvPr/>
        </p:nvSpPr>
        <p:spPr>
          <a:xfrm>
            <a:off x="4797552" y="3291840"/>
            <a:ext cx="1636776" cy="384048"/>
          </a:xfrm>
          <a:prstGeom prst="rect">
            <a:avLst/>
          </a:prstGeom>
          <a:noFill/>
          <a:ln/>
        </p:spPr>
        <p:txBody>
          <a:bodyPr wrap="square" lIns="0" tIns="0" rIns="0" bIns="0" rtlCol="0" anchor="t"/>
          <a:lstStyle/>
          <a:p>
            <a:pPr algn="ctr" indent="0" marL="0">
              <a:lnSpc>
                <a:spcPct val="105000"/>
              </a:lnSpc>
              <a:buNone/>
            </a:pPr>
            <a:r>
              <a:rPr lang="en-US" sz="1050" dirty="0">
                <a:solidFill>
                  <a:srgbClr val="9AA6C7"/>
                </a:solidFill>
                <a:latin typeface="Arial" pitchFamily="34" charset="0"/>
                <a:ea typeface="Arial" pitchFamily="34" charset="-122"/>
                <a:cs typeface="Arial" pitchFamily="34" charset="-120"/>
              </a:rPr>
              <a:t>Text-to-video</a:t>
            </a:r>
            <a:endParaRPr lang="en-US" sz="1050" dirty="0"/>
          </a:p>
        </p:txBody>
      </p:sp>
      <p:sp>
        <p:nvSpPr>
          <p:cNvPr id="17" name="Text 15"/>
          <p:cNvSpPr/>
          <p:nvPr/>
        </p:nvSpPr>
        <p:spPr>
          <a:xfrm>
            <a:off x="6477000" y="2948940"/>
            <a:ext cx="365760" cy="365760"/>
          </a:xfrm>
          <a:prstGeom prst="rect">
            <a:avLst/>
          </a:prstGeom>
          <a:noFill/>
          <a:ln/>
        </p:spPr>
        <p:txBody>
          <a:bodyPr wrap="square" lIns="0" tIns="0" rIns="0" bIns="0" rtlCol="0" anchor="ctr"/>
          <a:lstStyle/>
          <a:p>
            <a:pPr algn="ctr" indent="0" marL="0">
              <a:buNone/>
            </a:pPr>
            <a:r>
              <a:rPr lang="en-US" sz="2000" b="1" dirty="0">
                <a:solidFill>
                  <a:srgbClr val="38E0FF"/>
                </a:solidFill>
                <a:latin typeface="Arial" pitchFamily="34" charset="0"/>
                <a:ea typeface="Arial" pitchFamily="34" charset="-122"/>
                <a:cs typeface="Arial" pitchFamily="34" charset="-120"/>
              </a:rPr>
              <a:t>→</a:t>
            </a:r>
            <a:endParaRPr lang="en-US" sz="2000" dirty="0"/>
          </a:p>
        </p:txBody>
      </p:sp>
      <p:sp>
        <p:nvSpPr>
          <p:cNvPr id="18" name="Shape 16"/>
          <p:cNvSpPr/>
          <p:nvPr/>
        </p:nvSpPr>
        <p:spPr>
          <a:xfrm>
            <a:off x="6812280" y="2514600"/>
            <a:ext cx="1783080" cy="1234440"/>
          </a:xfrm>
          <a:prstGeom prst="roundRect">
            <a:avLst>
              <a:gd name="adj" fmla="val 7407"/>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19" name="Text 17"/>
          <p:cNvSpPr/>
          <p:nvPr/>
        </p:nvSpPr>
        <p:spPr>
          <a:xfrm>
            <a:off x="6903720" y="2734056"/>
            <a:ext cx="160020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6F8FF"/>
                </a:solidFill>
                <a:latin typeface="Arial" pitchFamily="34" charset="0"/>
                <a:ea typeface="Arial" pitchFamily="34" charset="-122"/>
                <a:cs typeface="Arial" pitchFamily="34" charset="-120"/>
              </a:rPr>
              <a:t>Variants</a:t>
            </a:r>
            <a:endParaRPr lang="en-US" sz="1400" dirty="0"/>
          </a:p>
        </p:txBody>
      </p:sp>
      <p:sp>
        <p:nvSpPr>
          <p:cNvPr id="20" name="Text 18"/>
          <p:cNvSpPr/>
          <p:nvPr/>
        </p:nvSpPr>
        <p:spPr>
          <a:xfrm>
            <a:off x="6885432" y="3291840"/>
            <a:ext cx="1636776" cy="384048"/>
          </a:xfrm>
          <a:prstGeom prst="rect">
            <a:avLst/>
          </a:prstGeom>
          <a:noFill/>
          <a:ln/>
        </p:spPr>
        <p:txBody>
          <a:bodyPr wrap="square" lIns="0" tIns="0" rIns="0" bIns="0" rtlCol="0" anchor="t"/>
          <a:lstStyle/>
          <a:p>
            <a:pPr algn="ctr" indent="0" marL="0">
              <a:lnSpc>
                <a:spcPct val="105000"/>
              </a:lnSpc>
              <a:buNone/>
            </a:pPr>
            <a:r>
              <a:rPr lang="en-US" sz="1050" dirty="0">
                <a:solidFill>
                  <a:srgbClr val="9AA6C7"/>
                </a:solidFill>
                <a:latin typeface="Arial" pitchFamily="34" charset="0"/>
                <a:ea typeface="Arial" pitchFamily="34" charset="-122"/>
                <a:cs typeface="Arial" pitchFamily="34" charset="-120"/>
              </a:rPr>
              <a:t>Test CPI / CVR</a:t>
            </a:r>
            <a:endParaRPr lang="en-US" sz="1050" dirty="0"/>
          </a:p>
        </p:txBody>
      </p:sp>
      <p:sp>
        <p:nvSpPr>
          <p:cNvPr id="21" name="Text 19"/>
          <p:cNvSpPr/>
          <p:nvPr/>
        </p:nvSpPr>
        <p:spPr>
          <a:xfrm>
            <a:off x="548640" y="4160520"/>
            <a:ext cx="5669280" cy="365760"/>
          </a:xfrm>
          <a:prstGeom prst="rect">
            <a:avLst/>
          </a:prstGeom>
          <a:noFill/>
          <a:ln/>
        </p:spPr>
        <p:txBody>
          <a:bodyPr wrap="square" lIns="0" tIns="0" rIns="0" bIns="0" rtlCol="0" anchor="ctr"/>
          <a:lstStyle/>
          <a:p>
            <a:pPr indent="0" marL="0">
              <a:buNone/>
            </a:pPr>
            <a:r>
              <a:rPr lang="en-US" sz="1300" b="1" dirty="0">
                <a:solidFill>
                  <a:srgbClr val="EC4899"/>
                </a:solidFill>
                <a:latin typeface="Arial" pitchFamily="34" charset="0"/>
                <a:ea typeface="Arial" pitchFamily="34" charset="-122"/>
                <a:cs typeface="Arial" pitchFamily="34" charset="-120"/>
              </a:rPr>
              <a:t>Đòn bẩy   </a:t>
            </a:r>
            <a:pPr indent="0" marL="0">
              <a:buNone/>
            </a:pPr>
            <a:r>
              <a:rPr lang="en-US" sz="1300" dirty="0">
                <a:solidFill>
                  <a:srgbClr val="9AA6C7"/>
                </a:solidFill>
                <a:latin typeface="Arial" pitchFamily="34" charset="0"/>
                <a:ea typeface="Arial" pitchFamily="34" charset="-122"/>
                <a:cs typeface="Arial" pitchFamily="34" charset="-120"/>
              </a:rPr>
              <a:t>Tạo nhiều giả thuyết, để dữ liệu chọn.</a:t>
            </a:r>
            <a:endParaRPr lang="en-US" sz="1300" dirty="0"/>
          </a:p>
        </p:txBody>
      </p:sp>
      <p:sp>
        <p:nvSpPr>
          <p:cNvPr id="22" name="Shape 20"/>
          <p:cNvSpPr/>
          <p:nvPr/>
        </p:nvSpPr>
        <p:spPr>
          <a:xfrm>
            <a:off x="6400800" y="4187952"/>
            <a:ext cx="1452067" cy="274320"/>
          </a:xfrm>
          <a:prstGeom prst="roundRect">
            <a:avLst>
              <a:gd name="adj" fmla="val 50000"/>
            </a:avLst>
          </a:prstGeom>
          <a:solidFill>
            <a:srgbClr val="1B2547"/>
          </a:solidFill>
          <a:ln w="9525">
            <a:solidFill>
              <a:srgbClr val="3A4570"/>
            </a:solidFill>
            <a:prstDash val="solid"/>
          </a:ln>
        </p:spPr>
      </p:sp>
      <p:sp>
        <p:nvSpPr>
          <p:cNvPr id="23" name="Text 21"/>
          <p:cNvSpPr/>
          <p:nvPr/>
        </p:nvSpPr>
        <p:spPr>
          <a:xfrm>
            <a:off x="6400800" y="4187952"/>
            <a:ext cx="1452067" cy="274320"/>
          </a:xfrm>
          <a:prstGeom prst="rect">
            <a:avLst/>
          </a:prstGeom>
          <a:noFill/>
          <a:ln/>
        </p:spPr>
        <p:txBody>
          <a:bodyPr wrap="square" lIns="0" tIns="0" rIns="0" bIns="0" rtlCol="0" anchor="ctr"/>
          <a:lstStyle/>
          <a:p>
            <a:pPr algn="ctr" indent="0" marL="0">
              <a:buNone/>
            </a:pPr>
            <a:r>
              <a:rPr lang="en-US" sz="900" b="1" dirty="0">
                <a:solidFill>
                  <a:srgbClr val="DFE6FF"/>
                </a:solidFill>
                <a:latin typeface="Arial" pitchFamily="34" charset="0"/>
                <a:ea typeface="Arial" pitchFamily="34" charset="-122"/>
                <a:cs typeface="Arial" pitchFamily="34" charset="-120"/>
              </a:rPr>
              <a:t>Mô hình AI video</a:t>
            </a:r>
            <a:endParaRPr lang="en-US" sz="900" dirty="0"/>
          </a:p>
        </p:txBody>
      </p:sp>
      <p:sp>
        <p:nvSpPr>
          <p:cNvPr id="25" name="Text 22"/>
          <p:cNvSpPr/>
          <p:nvPr/>
        </p:nvSpPr>
        <p:spPr>
          <a:xfrm>
            <a:off x="8321040" y="4828032"/>
            <a:ext cx="685800" cy="228600"/>
          </a:xfrm>
          <a:prstGeom prst="rect">
            <a:avLst/>
          </a:prstGeom>
          <a:noFill/>
          <a:ln/>
        </p:spPr>
        <p:txBody>
          <a:bodyPr wrap="square" lIns="0" tIns="0" rIns="0" bIns="0" rtlCol="0" anchor="ctr"/>
          <a:lstStyle/>
          <a:p>
            <a:pPr algn="r" indent="0" marL="0">
              <a:buNone/>
            </a:pPr>
            <a:r>
              <a:rPr lang="en-US" sz="900" dirty="0">
                <a:solidFill>
                  <a:srgbClr val="9AA6C7"/>
                </a:solidFill>
                <a:latin typeface="Arial" pitchFamily="34" charset="0"/>
                <a:ea typeface="Arial" pitchFamily="34" charset="-122"/>
                <a:cs typeface="Arial" pitchFamily="34" charset="-120"/>
              </a:rPr>
              <a:t>7 / 14</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2A"/>
        </a:solidFill>
      </p:bgPr>
    </p:bg>
    <p:spTree>
      <p:nvGrpSpPr>
        <p:cNvPr id="1" name=""/>
        <p:cNvGrpSpPr/>
        <p:nvPr/>
      </p:nvGrpSpPr>
      <p:grpSpPr>
        <a:xfrm>
          <a:off x="0" y="0"/>
          <a:ext cx="0" cy="0"/>
          <a:chOff x="0" y="0"/>
          <a:chExt cx="0" cy="0"/>
        </a:xfrm>
      </p:grpSpPr>
      <p:sp>
        <p:nvSpPr>
          <p:cNvPr id="2" name="Shape 0"/>
          <p:cNvSpPr/>
          <p:nvPr/>
        </p:nvSpPr>
        <p:spPr>
          <a:xfrm>
            <a:off x="548640" y="402336"/>
            <a:ext cx="91440" cy="91440"/>
          </a:xfrm>
          <a:prstGeom prst="ellipse">
            <a:avLst/>
          </a:prstGeom>
          <a:solidFill>
            <a:srgbClr val="38E0FF"/>
          </a:solidFill>
          <a:ln/>
        </p:spPr>
      </p:sp>
      <p:sp>
        <p:nvSpPr>
          <p:cNvPr id="3" name="Text 1"/>
          <p:cNvSpPr/>
          <p:nvPr/>
        </p:nvSpPr>
        <p:spPr>
          <a:xfrm>
            <a:off x="713232" y="310896"/>
            <a:ext cx="7315200" cy="274320"/>
          </a:xfrm>
          <a:prstGeom prst="rect">
            <a:avLst/>
          </a:prstGeom>
          <a:noFill/>
          <a:ln/>
        </p:spPr>
        <p:txBody>
          <a:bodyPr wrap="square" lIns="0" tIns="0" rIns="0" bIns="0" rtlCol="0" anchor="ctr"/>
          <a:lstStyle/>
          <a:p>
            <a:pPr indent="0" marL="0">
              <a:buNone/>
            </a:pPr>
            <a:r>
              <a:rPr lang="en-US" sz="1100" b="1" spc="200" kern="0" dirty="0">
                <a:solidFill>
                  <a:srgbClr val="38E0FF"/>
                </a:solidFill>
                <a:latin typeface="Arial" pitchFamily="34" charset="0"/>
                <a:ea typeface="Arial" pitchFamily="34" charset="-122"/>
                <a:cs typeface="Arial" pitchFamily="34" charset="-120"/>
              </a:rPr>
              <a:t>CASE STUDY · WORKFLOW 2</a:t>
            </a:r>
            <a:endParaRPr lang="en-US" sz="1100" dirty="0"/>
          </a:p>
        </p:txBody>
      </p:sp>
      <p:sp>
        <p:nvSpPr>
          <p:cNvPr id="4" name="Text 2"/>
          <p:cNvSpPr/>
          <p:nvPr/>
        </p:nvSpPr>
        <p:spPr>
          <a:xfrm>
            <a:off x="548640" y="676656"/>
            <a:ext cx="8046720" cy="914400"/>
          </a:xfrm>
          <a:prstGeom prst="rect">
            <a:avLst/>
          </a:prstGeom>
          <a:noFill/>
          <a:ln/>
        </p:spPr>
        <p:txBody>
          <a:bodyPr wrap="square" lIns="0" tIns="0" rIns="0" bIns="0" rtlCol="0" anchor="t"/>
          <a:lstStyle/>
          <a:p>
            <a:pPr indent="0" marL="0">
              <a:lnSpc>
                <a:spcPct val="102000"/>
              </a:lnSpc>
              <a:buNone/>
            </a:pPr>
            <a:r>
              <a:rPr lang="en-US" sz="3000" b="1" dirty="0">
                <a:solidFill>
                  <a:srgbClr val="F6F8FF"/>
                </a:solidFill>
                <a:latin typeface="Arial" pitchFamily="34" charset="0"/>
                <a:ea typeface="Arial" pitchFamily="34" charset="-122"/>
                <a:cs typeface="Arial" pitchFamily="34" charset="-120"/>
              </a:rPr>
              <a:t>Localize creative cho </a:t>
            </a:r>
            <a:pPr indent="0" marL="0">
              <a:lnSpc>
                <a:spcPct val="102000"/>
              </a:lnSpc>
              <a:buNone/>
            </a:pPr>
            <a:r>
              <a:rPr lang="en-US" sz="3000" b="1" dirty="0">
                <a:solidFill>
                  <a:srgbClr val="38E0FF"/>
                </a:solidFill>
                <a:latin typeface="Arial" pitchFamily="34" charset="0"/>
                <a:ea typeface="Arial" pitchFamily="34" charset="-122"/>
                <a:cs typeface="Arial" pitchFamily="34" charset="-120"/>
              </a:rPr>
              <a:t>20 ngôn ngữ</a:t>
            </a:r>
            <a:endParaRPr lang="en-US" sz="3000" dirty="0"/>
          </a:p>
        </p:txBody>
      </p:sp>
      <p:sp>
        <p:nvSpPr>
          <p:cNvPr id="5" name="Text 3"/>
          <p:cNvSpPr/>
          <p:nvPr/>
        </p:nvSpPr>
        <p:spPr>
          <a:xfrm>
            <a:off x="548640" y="1481328"/>
            <a:ext cx="8046720" cy="777240"/>
          </a:xfrm>
          <a:prstGeom prst="rect">
            <a:avLst/>
          </a:prstGeom>
          <a:noFill/>
          <a:ln/>
        </p:spPr>
        <p:txBody>
          <a:bodyPr wrap="square" lIns="0" tIns="0" rIns="0" bIns="0" rtlCol="0" anchor="t"/>
          <a:lstStyle/>
          <a:p>
            <a:pPr indent="0" marL="0">
              <a:lnSpc>
                <a:spcPct val="118000"/>
              </a:lnSpc>
              <a:buNone/>
            </a:pPr>
            <a:r>
              <a:rPr lang="en-US" sz="1350" dirty="0">
                <a:solidFill>
                  <a:srgbClr val="9AA6C7"/>
                </a:solidFill>
                <a:latin typeface="Arial" pitchFamily="34" charset="0"/>
                <a:ea typeface="Arial" pitchFamily="34" charset="-122"/>
                <a:cs typeface="Arial" pitchFamily="34" charset="-120"/>
              </a:rPr>
              <a:t>Một creative gốc → AI localize </a:t>
            </a:r>
            <a:pPr indent="0" marL="0">
              <a:lnSpc>
                <a:spcPct val="118000"/>
              </a:lnSpc>
              <a:buNone/>
            </a:pPr>
            <a:r>
              <a:rPr lang="en-US" sz="1350" b="1" dirty="0">
                <a:solidFill>
                  <a:srgbClr val="FFFFFF"/>
                </a:solidFill>
                <a:latin typeface="Arial" pitchFamily="34" charset="0"/>
                <a:ea typeface="Arial" pitchFamily="34" charset="-122"/>
                <a:cs typeface="Arial" pitchFamily="34" charset="-120"/>
              </a:rPr>
              <a:t>lời thoại, phụ đề &amp; giọng đọc</a:t>
            </a:r>
            <a:pPr indent="0" marL="0">
              <a:lnSpc>
                <a:spcPct val="118000"/>
              </a:lnSpc>
              <a:buNone/>
            </a:pPr>
            <a:r>
              <a:rPr lang="en-US" sz="1350" dirty="0">
                <a:solidFill>
                  <a:srgbClr val="9AA6C7"/>
                </a:solidFill>
                <a:latin typeface="Arial" pitchFamily="34" charset="0"/>
                <a:ea typeface="Arial" pitchFamily="34" charset="-122"/>
                <a:cs typeface="Arial" pitchFamily="34" charset="-120"/>
              </a:rPr>
              <a:t> ra 20 ngôn ngữ; test nhiều biến thể theo từng thị trường, giữ lại cái CPI thấp nhất rồi scale.</a:t>
            </a:r>
            <a:endParaRPr lang="en-US" sz="1350" dirty="0"/>
          </a:p>
        </p:txBody>
      </p:sp>
      <p:sp>
        <p:nvSpPr>
          <p:cNvPr id="6" name="Shape 4"/>
          <p:cNvSpPr/>
          <p:nvPr/>
        </p:nvSpPr>
        <p:spPr>
          <a:xfrm>
            <a:off x="548640" y="2514600"/>
            <a:ext cx="3886200" cy="1874520"/>
          </a:xfrm>
          <a:prstGeom prst="roundRect">
            <a:avLst>
              <a:gd name="adj" fmla="val 7805"/>
            </a:avLst>
          </a:prstGeom>
          <a:solidFill>
            <a:srgbClr val="122A44"/>
          </a:solidFill>
          <a:ln w="12700">
            <a:solidFill>
              <a:srgbClr val="2E7FA0"/>
            </a:solidFill>
            <a:prstDash val="solid"/>
          </a:ln>
          <a:effectLst>
            <a:outerShdw sx="100000" sy="100000" kx="0" ky="0" algn="bl" rotWithShape="0" blurRad="101600" dist="25400" dir="5400000">
              <a:srgbClr val="000000">
                <a:alpha val="28000"/>
              </a:srgbClr>
            </a:outerShdw>
          </a:effectLst>
        </p:spPr>
      </p:sp>
      <p:sp>
        <p:nvSpPr>
          <p:cNvPr id="7" name="Text 5"/>
          <p:cNvSpPr/>
          <p:nvPr/>
        </p:nvSpPr>
        <p:spPr>
          <a:xfrm>
            <a:off x="822960" y="2715768"/>
            <a:ext cx="3337560" cy="868680"/>
          </a:xfrm>
          <a:prstGeom prst="rect">
            <a:avLst/>
          </a:prstGeom>
          <a:noFill/>
          <a:ln/>
        </p:spPr>
        <p:txBody>
          <a:bodyPr wrap="square" lIns="0" tIns="0" rIns="0" bIns="0" rtlCol="0" anchor="ctr"/>
          <a:lstStyle/>
          <a:p>
            <a:pPr indent="0" marL="0">
              <a:buNone/>
            </a:pPr>
            <a:r>
              <a:rPr lang="en-US" sz="6000" b="1" dirty="0">
                <a:solidFill>
                  <a:srgbClr val="38E0FF"/>
                </a:solidFill>
                <a:latin typeface="Arial" pitchFamily="34" charset="0"/>
                <a:ea typeface="Arial" pitchFamily="34" charset="-122"/>
                <a:cs typeface="Arial" pitchFamily="34" charset="-120"/>
              </a:rPr>
              <a:t>–25%</a:t>
            </a:r>
            <a:endParaRPr lang="en-US" sz="6000" dirty="0"/>
          </a:p>
        </p:txBody>
      </p:sp>
      <p:sp>
        <p:nvSpPr>
          <p:cNvPr id="8" name="Text 6"/>
          <p:cNvSpPr/>
          <p:nvPr/>
        </p:nvSpPr>
        <p:spPr>
          <a:xfrm>
            <a:off x="822960" y="3648456"/>
            <a:ext cx="333756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CPI sau khi lọc hook</a:t>
            </a:r>
            <a:endParaRPr lang="en-US" sz="1600" dirty="0"/>
          </a:p>
        </p:txBody>
      </p:sp>
      <p:sp>
        <p:nvSpPr>
          <p:cNvPr id="9" name="Text 7"/>
          <p:cNvSpPr/>
          <p:nvPr/>
        </p:nvSpPr>
        <p:spPr>
          <a:xfrm>
            <a:off x="822960" y="3977640"/>
            <a:ext cx="3337560" cy="365760"/>
          </a:xfrm>
          <a:prstGeom prst="rect">
            <a:avLst/>
          </a:prstGeom>
          <a:noFill/>
          <a:ln/>
        </p:spPr>
        <p:txBody>
          <a:bodyPr wrap="square" lIns="0" tIns="0" rIns="0" bIns="0" rtlCol="0" anchor="ctr"/>
          <a:lstStyle/>
          <a:p>
            <a:pPr indent="0" marL="0">
              <a:buNone/>
            </a:pPr>
            <a:r>
              <a:rPr lang="en-US" sz="1150" dirty="0">
                <a:solidFill>
                  <a:srgbClr val="9AA6C7"/>
                </a:solidFill>
                <a:latin typeface="Arial" pitchFamily="34" charset="0"/>
                <a:ea typeface="Arial" pitchFamily="34" charset="-122"/>
                <a:cs typeface="Arial" pitchFamily="34" charset="-120"/>
              </a:rPr>
              <a:t>test nhiều variant, giữ lại cái rẻ nhất đem scale</a:t>
            </a:r>
            <a:endParaRPr lang="en-US" sz="1150" dirty="0"/>
          </a:p>
        </p:txBody>
      </p:sp>
      <p:sp>
        <p:nvSpPr>
          <p:cNvPr id="10" name="Shape 8"/>
          <p:cNvSpPr/>
          <p:nvPr/>
        </p:nvSpPr>
        <p:spPr>
          <a:xfrm>
            <a:off x="4709160" y="2514600"/>
            <a:ext cx="3886200" cy="1874520"/>
          </a:xfrm>
          <a:prstGeom prst="roundRect">
            <a:avLst>
              <a:gd name="adj" fmla="val 7805"/>
            </a:avLst>
          </a:prstGeom>
          <a:solidFill>
            <a:srgbClr val="2A1636"/>
          </a:solidFill>
          <a:ln w="12700">
            <a:solidFill>
              <a:srgbClr val="7A2E63"/>
            </a:solidFill>
            <a:prstDash val="solid"/>
          </a:ln>
          <a:effectLst>
            <a:outerShdw sx="100000" sy="100000" kx="0" ky="0" algn="bl" rotWithShape="0" blurRad="101600" dist="25400" dir="5400000">
              <a:srgbClr val="000000">
                <a:alpha val="28000"/>
              </a:srgbClr>
            </a:outerShdw>
          </a:effectLst>
        </p:spPr>
      </p:sp>
      <p:sp>
        <p:nvSpPr>
          <p:cNvPr id="11" name="Text 9"/>
          <p:cNvSpPr/>
          <p:nvPr/>
        </p:nvSpPr>
        <p:spPr>
          <a:xfrm>
            <a:off x="4983480" y="2715768"/>
            <a:ext cx="3337560" cy="868680"/>
          </a:xfrm>
          <a:prstGeom prst="rect">
            <a:avLst/>
          </a:prstGeom>
          <a:noFill/>
          <a:ln/>
        </p:spPr>
        <p:txBody>
          <a:bodyPr wrap="square" lIns="0" tIns="0" rIns="0" bIns="0" rtlCol="0" anchor="ctr"/>
          <a:lstStyle/>
          <a:p>
            <a:pPr indent="0" marL="0">
              <a:buNone/>
            </a:pPr>
            <a:r>
              <a:rPr lang="en-US" sz="6000" b="1" dirty="0">
                <a:solidFill>
                  <a:srgbClr val="EC4899"/>
                </a:solidFill>
                <a:latin typeface="Arial" pitchFamily="34" charset="0"/>
                <a:ea typeface="Arial" pitchFamily="34" charset="-122"/>
                <a:cs typeface="Arial" pitchFamily="34" charset="-120"/>
              </a:rPr>
              <a:t>~10×</a:t>
            </a:r>
            <a:endParaRPr lang="en-US" sz="6000" dirty="0"/>
          </a:p>
        </p:txBody>
      </p:sp>
      <p:sp>
        <p:nvSpPr>
          <p:cNvPr id="12" name="Text 10"/>
          <p:cNvSpPr/>
          <p:nvPr/>
        </p:nvSpPr>
        <p:spPr>
          <a:xfrm>
            <a:off x="4983480" y="3648456"/>
            <a:ext cx="3337560" cy="3200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số creative variant test được</a:t>
            </a:r>
            <a:endParaRPr lang="en-US" sz="1600" dirty="0"/>
          </a:p>
        </p:txBody>
      </p:sp>
      <p:sp>
        <p:nvSpPr>
          <p:cNvPr id="13" name="Text 11"/>
          <p:cNvSpPr/>
          <p:nvPr/>
        </p:nvSpPr>
        <p:spPr>
          <a:xfrm>
            <a:off x="4983480" y="3977640"/>
            <a:ext cx="3337560" cy="365760"/>
          </a:xfrm>
          <a:prstGeom prst="rect">
            <a:avLst/>
          </a:prstGeom>
          <a:noFill/>
          <a:ln/>
        </p:spPr>
        <p:txBody>
          <a:bodyPr wrap="square" lIns="0" tIns="0" rIns="0" bIns="0" rtlCol="0" anchor="ctr"/>
          <a:lstStyle/>
          <a:p>
            <a:pPr indent="0" marL="0">
              <a:buNone/>
            </a:pPr>
            <a:r>
              <a:rPr lang="en-US" sz="1150" dirty="0">
                <a:solidFill>
                  <a:srgbClr val="9AA6C7"/>
                </a:solidFill>
                <a:latin typeface="Arial" pitchFamily="34" charset="0"/>
                <a:ea typeface="Arial" pitchFamily="34" charset="-122"/>
                <a:cs typeface="Arial" pitchFamily="34" charset="-120"/>
              </a:rPr>
              <a:t>so với làm thủ công — tạo &amp; test theo ngày, không theo tuần</a:t>
            </a:r>
            <a:endParaRPr lang="en-US" sz="1150" dirty="0"/>
          </a:p>
        </p:txBody>
      </p:sp>
      <p:sp>
        <p:nvSpPr>
          <p:cNvPr id="14" name="Text 12"/>
          <p:cNvSpPr/>
          <p:nvPr/>
        </p:nvSpPr>
        <p:spPr>
          <a:xfrm>
            <a:off x="548640" y="4572000"/>
            <a:ext cx="7315200" cy="274320"/>
          </a:xfrm>
          <a:prstGeom prst="rect">
            <a:avLst/>
          </a:prstGeom>
          <a:noFill/>
          <a:ln/>
        </p:spPr>
        <p:txBody>
          <a:bodyPr wrap="square" lIns="0" tIns="0" rIns="0" bIns="0" rtlCol="0" anchor="ctr"/>
          <a:lstStyle/>
          <a:p>
            <a:pPr indent="0" marL="0">
              <a:buNone/>
            </a:pPr>
            <a:r>
              <a:rPr lang="en-US" sz="1000" i="1" dirty="0">
                <a:solidFill>
                  <a:srgbClr val="9AA6C7"/>
                </a:solidFill>
                <a:latin typeface="Arial" pitchFamily="34" charset="0"/>
                <a:ea typeface="Arial" pitchFamily="34" charset="-122"/>
                <a:cs typeface="Arial" pitchFamily="34" charset="-120"/>
              </a:rPr>
              <a:t>Mức cải thiện CPI &amp; số variant: ước lượng vận hành</a:t>
            </a:r>
            <a:endParaRPr lang="en-US" sz="1000" dirty="0"/>
          </a:p>
        </p:txBody>
      </p:sp>
      <p:sp>
        <p:nvSpPr>
          <p:cNvPr id="16" name="Text 13"/>
          <p:cNvSpPr/>
          <p:nvPr/>
        </p:nvSpPr>
        <p:spPr>
          <a:xfrm>
            <a:off x="8321040" y="4828032"/>
            <a:ext cx="685800" cy="228600"/>
          </a:xfrm>
          <a:prstGeom prst="rect">
            <a:avLst/>
          </a:prstGeom>
          <a:noFill/>
          <a:ln/>
        </p:spPr>
        <p:txBody>
          <a:bodyPr wrap="square" lIns="0" tIns="0" rIns="0" bIns="0" rtlCol="0" anchor="ctr"/>
          <a:lstStyle/>
          <a:p>
            <a:pPr algn="r" indent="0" marL="0">
              <a:buNone/>
            </a:pPr>
            <a:r>
              <a:rPr lang="en-US" sz="900" dirty="0">
                <a:solidFill>
                  <a:srgbClr val="9AA6C7"/>
                </a:solidFill>
                <a:latin typeface="Arial" pitchFamily="34" charset="0"/>
                <a:ea typeface="Arial" pitchFamily="34" charset="-122"/>
                <a:cs typeface="Arial" pitchFamily="34" charset="-120"/>
              </a:rPr>
              <a:t>8 / 14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2A"/>
        </a:solidFill>
      </p:bgPr>
    </p:bg>
    <p:spTree>
      <p:nvGrpSpPr>
        <p:cNvPr id="1" name=""/>
        <p:cNvGrpSpPr/>
        <p:nvPr/>
      </p:nvGrpSpPr>
      <p:grpSpPr>
        <a:xfrm>
          <a:off x="0" y="0"/>
          <a:ext cx="0" cy="0"/>
          <a:chOff x="0" y="0"/>
          <a:chExt cx="0" cy="0"/>
        </a:xfrm>
      </p:grpSpPr>
      <p:sp>
        <p:nvSpPr>
          <p:cNvPr id="2" name="Shape 0"/>
          <p:cNvSpPr/>
          <p:nvPr/>
        </p:nvSpPr>
        <p:spPr>
          <a:xfrm>
            <a:off x="548640" y="402336"/>
            <a:ext cx="91440" cy="91440"/>
          </a:xfrm>
          <a:prstGeom prst="ellipse">
            <a:avLst/>
          </a:prstGeom>
          <a:solidFill>
            <a:srgbClr val="38E0FF"/>
          </a:solidFill>
          <a:ln/>
        </p:spPr>
      </p:sp>
      <p:sp>
        <p:nvSpPr>
          <p:cNvPr id="3" name="Text 1"/>
          <p:cNvSpPr/>
          <p:nvPr/>
        </p:nvSpPr>
        <p:spPr>
          <a:xfrm>
            <a:off x="713232" y="310896"/>
            <a:ext cx="7315200" cy="274320"/>
          </a:xfrm>
          <a:prstGeom prst="rect">
            <a:avLst/>
          </a:prstGeom>
          <a:noFill/>
          <a:ln/>
        </p:spPr>
        <p:txBody>
          <a:bodyPr wrap="square" lIns="0" tIns="0" rIns="0" bIns="0" rtlCol="0" anchor="ctr"/>
          <a:lstStyle/>
          <a:p>
            <a:pPr indent="0" marL="0">
              <a:buNone/>
            </a:pPr>
            <a:r>
              <a:rPr lang="en-US" sz="1100" b="1" spc="200" kern="0" dirty="0">
                <a:solidFill>
                  <a:srgbClr val="38E0FF"/>
                </a:solidFill>
                <a:latin typeface="Arial" pitchFamily="34" charset="0"/>
                <a:ea typeface="Arial" pitchFamily="34" charset="-122"/>
                <a:cs typeface="Arial" pitchFamily="34" charset="-120"/>
              </a:rPr>
              <a:t>WORKFLOW 3</a:t>
            </a:r>
            <a:endParaRPr lang="en-US" sz="1100" dirty="0"/>
          </a:p>
        </p:txBody>
      </p:sp>
      <p:sp>
        <p:nvSpPr>
          <p:cNvPr id="4" name="Text 2"/>
          <p:cNvSpPr/>
          <p:nvPr/>
        </p:nvSpPr>
        <p:spPr>
          <a:xfrm>
            <a:off x="548640" y="676656"/>
            <a:ext cx="8046720" cy="914400"/>
          </a:xfrm>
          <a:prstGeom prst="rect">
            <a:avLst/>
          </a:prstGeom>
          <a:noFill/>
          <a:ln/>
        </p:spPr>
        <p:txBody>
          <a:bodyPr wrap="square" lIns="0" tIns="0" rIns="0" bIns="0" rtlCol="0" anchor="t"/>
          <a:lstStyle/>
          <a:p>
            <a:pPr indent="0" marL="0">
              <a:lnSpc>
                <a:spcPct val="102000"/>
              </a:lnSpc>
              <a:buNone/>
            </a:pPr>
            <a:r>
              <a:rPr lang="en-US" sz="3000" b="1" dirty="0">
                <a:solidFill>
                  <a:srgbClr val="38E0FF"/>
                </a:solidFill>
                <a:latin typeface="Arial" pitchFamily="34" charset="0"/>
                <a:ea typeface="Arial" pitchFamily="34" charset="-122"/>
                <a:cs typeface="Arial" pitchFamily="34" charset="-120"/>
              </a:rPr>
              <a:t>UA Agent</a:t>
            </a:r>
            <a:pPr indent="0" marL="0">
              <a:lnSpc>
                <a:spcPct val="102000"/>
              </a:lnSpc>
              <a:buNone/>
            </a:pPr>
            <a:r>
              <a:rPr lang="en-US" sz="3000" b="1" dirty="0">
                <a:solidFill>
                  <a:srgbClr val="F6F8FF"/>
                </a:solidFill>
                <a:latin typeface="Arial" pitchFamily="34" charset="0"/>
                <a:ea typeface="Arial" pitchFamily="34" charset="-122"/>
                <a:cs typeface="Arial" pitchFamily="34" charset="-120"/>
              </a:rPr>
              <a:t> 24/7</a:t>
            </a:r>
            <a:endParaRPr lang="en-US" sz="3000" dirty="0"/>
          </a:p>
        </p:txBody>
      </p:sp>
      <p:sp>
        <p:nvSpPr>
          <p:cNvPr id="5" name="Text 3"/>
          <p:cNvSpPr/>
          <p:nvPr/>
        </p:nvSpPr>
        <p:spPr>
          <a:xfrm>
            <a:off x="548640" y="1481328"/>
            <a:ext cx="8046720" cy="777240"/>
          </a:xfrm>
          <a:prstGeom prst="rect">
            <a:avLst/>
          </a:prstGeom>
          <a:noFill/>
          <a:ln/>
        </p:spPr>
        <p:txBody>
          <a:bodyPr wrap="square" lIns="0" tIns="0" rIns="0" bIns="0" rtlCol="0" anchor="t"/>
          <a:lstStyle/>
          <a:p>
            <a:pPr indent="0" marL="0">
              <a:lnSpc>
                <a:spcPct val="118000"/>
              </a:lnSpc>
              <a:buNone/>
            </a:pPr>
            <a:r>
              <a:rPr lang="en-US" sz="1350" dirty="0">
                <a:solidFill>
                  <a:srgbClr val="9AA6C7"/>
                </a:solidFill>
                <a:latin typeface="Arial" pitchFamily="34" charset="0"/>
                <a:ea typeface="Arial" pitchFamily="34" charset="-122"/>
                <a:cs typeface="Arial" pitchFamily="34" charset="-120"/>
              </a:rPr>
              <a:t>AI agent đồng hành cùng UA marketer: đọc số liên tục, phát hiện bất thường, tóm tắt nguyên nhân và gợi ý hành động — </a:t>
            </a:r>
            <a:pPr indent="0" marL="0">
              <a:lnSpc>
                <a:spcPct val="118000"/>
              </a:lnSpc>
              <a:buNone/>
            </a:pPr>
            <a:r>
              <a:rPr lang="en-US" sz="1350" b="1" dirty="0">
                <a:solidFill>
                  <a:srgbClr val="FFFFFF"/>
                </a:solidFill>
                <a:latin typeface="Arial" pitchFamily="34" charset="0"/>
                <a:ea typeface="Arial" pitchFamily="34" charset="-122"/>
                <a:cs typeface="Arial" pitchFamily="34" charset="-120"/>
              </a:rPr>
              <a:t>marketer giữ quyết định cuối</a:t>
            </a:r>
            <a:pPr indent="0" marL="0">
              <a:lnSpc>
                <a:spcPct val="118000"/>
              </a:lnSpc>
              <a:buNone/>
            </a:pPr>
            <a:r>
              <a:rPr lang="en-US" sz="1350" dirty="0">
                <a:solidFill>
                  <a:srgbClr val="9AA6C7"/>
                </a:solidFill>
                <a:latin typeface="Arial" pitchFamily="34" charset="0"/>
                <a:ea typeface="Arial" pitchFamily="34" charset="-122"/>
                <a:cs typeface="Arial" pitchFamily="34" charset="-120"/>
              </a:rPr>
              <a:t>.</a:t>
            </a:r>
            <a:endParaRPr lang="en-US" sz="1350" dirty="0"/>
          </a:p>
        </p:txBody>
      </p:sp>
      <p:sp>
        <p:nvSpPr>
          <p:cNvPr id="6" name="Shape 4"/>
          <p:cNvSpPr/>
          <p:nvPr/>
        </p:nvSpPr>
        <p:spPr>
          <a:xfrm>
            <a:off x="548640" y="2468880"/>
            <a:ext cx="2499360" cy="2194560"/>
          </a:xfrm>
          <a:prstGeom prst="roundRect">
            <a:avLst>
              <a:gd name="adj" fmla="val 5417"/>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7" name="Text 5"/>
          <p:cNvSpPr/>
          <p:nvPr/>
        </p:nvSpPr>
        <p:spPr>
          <a:xfrm>
            <a:off x="768096" y="2651760"/>
            <a:ext cx="2060448" cy="219456"/>
          </a:xfrm>
          <a:prstGeom prst="rect">
            <a:avLst/>
          </a:prstGeom>
          <a:noFill/>
          <a:ln/>
        </p:spPr>
        <p:txBody>
          <a:bodyPr wrap="square" lIns="0" tIns="0" rIns="0" bIns="0" rtlCol="0" anchor="ctr"/>
          <a:lstStyle/>
          <a:p>
            <a:pPr indent="0" marL="0">
              <a:buNone/>
            </a:pPr>
            <a:r>
              <a:rPr lang="en-US" sz="1000" b="1" spc="100" kern="0" dirty="0">
                <a:solidFill>
                  <a:srgbClr val="38E0FF"/>
                </a:solidFill>
                <a:latin typeface="Arial" pitchFamily="34" charset="0"/>
                <a:ea typeface="Arial" pitchFamily="34" charset="-122"/>
                <a:cs typeface="Arial" pitchFamily="34" charset="-120"/>
              </a:rPr>
              <a:t>MONITOR</a:t>
            </a:r>
            <a:endParaRPr lang="en-US" sz="1000" dirty="0"/>
          </a:p>
        </p:txBody>
      </p:sp>
      <p:sp>
        <p:nvSpPr>
          <p:cNvPr id="8" name="Text 6"/>
          <p:cNvSpPr/>
          <p:nvPr/>
        </p:nvSpPr>
        <p:spPr>
          <a:xfrm>
            <a:off x="768096" y="2926080"/>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Theo dõi campaign 24/7</a:t>
            </a:r>
            <a:endParaRPr lang="en-US" sz="1400" dirty="0"/>
          </a:p>
        </p:txBody>
      </p:sp>
      <p:sp>
        <p:nvSpPr>
          <p:cNvPr id="9" name="Text 7"/>
          <p:cNvSpPr/>
          <p:nvPr/>
        </p:nvSpPr>
        <p:spPr>
          <a:xfrm>
            <a:off x="768096" y="3310128"/>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Luôn nhìn CPI, CTR, IPM, CVR, spend và ROAS để bắt tín hiệu sớm.</a:t>
            </a:r>
            <a:endParaRPr lang="en-US" sz="1150" dirty="0"/>
          </a:p>
        </p:txBody>
      </p:sp>
      <p:sp>
        <p:nvSpPr>
          <p:cNvPr id="10" name="Shape 8"/>
          <p:cNvSpPr/>
          <p:nvPr/>
        </p:nvSpPr>
        <p:spPr>
          <a:xfrm>
            <a:off x="768096" y="4206240"/>
            <a:ext cx="1666037" cy="274320"/>
          </a:xfrm>
          <a:prstGeom prst="roundRect">
            <a:avLst>
              <a:gd name="adj" fmla="val 50000"/>
            </a:avLst>
          </a:prstGeom>
          <a:solidFill>
            <a:srgbClr val="1B2547"/>
          </a:solidFill>
          <a:ln w="9525">
            <a:solidFill>
              <a:srgbClr val="3A4570"/>
            </a:solidFill>
            <a:prstDash val="solid"/>
          </a:ln>
        </p:spPr>
      </p:sp>
      <p:sp>
        <p:nvSpPr>
          <p:cNvPr id="11" name="Text 9"/>
          <p:cNvSpPr/>
          <p:nvPr/>
        </p:nvSpPr>
        <p:spPr>
          <a:xfrm>
            <a:off x="768096" y="4206240"/>
            <a:ext cx="1666037" cy="274320"/>
          </a:xfrm>
          <a:prstGeom prst="rect">
            <a:avLst/>
          </a:prstGeom>
          <a:noFill/>
          <a:ln/>
        </p:spPr>
        <p:txBody>
          <a:bodyPr wrap="square" lIns="0" tIns="0" rIns="0" bIns="0" rtlCol="0" anchor="ctr"/>
          <a:lstStyle/>
          <a:p>
            <a:pPr algn="ctr" indent="0" marL="0">
              <a:buNone/>
            </a:pPr>
            <a:r>
              <a:rPr lang="en-US" sz="900" b="1" dirty="0">
                <a:solidFill>
                  <a:srgbClr val="DFE6FF"/>
                </a:solidFill>
                <a:latin typeface="Arial" pitchFamily="34" charset="0"/>
                <a:ea typeface="Arial" pitchFamily="34" charset="-122"/>
                <a:cs typeface="Arial" pitchFamily="34" charset="-120"/>
              </a:rPr>
              <a:t>Always-on dashboard</a:t>
            </a:r>
            <a:endParaRPr lang="en-US" sz="900" dirty="0"/>
          </a:p>
        </p:txBody>
      </p:sp>
      <p:sp>
        <p:nvSpPr>
          <p:cNvPr id="12" name="Shape 10"/>
          <p:cNvSpPr/>
          <p:nvPr/>
        </p:nvSpPr>
        <p:spPr>
          <a:xfrm>
            <a:off x="3322320" y="2468880"/>
            <a:ext cx="2499360" cy="2194560"/>
          </a:xfrm>
          <a:prstGeom prst="roundRect">
            <a:avLst>
              <a:gd name="adj" fmla="val 5417"/>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13" name="Text 11"/>
          <p:cNvSpPr/>
          <p:nvPr/>
        </p:nvSpPr>
        <p:spPr>
          <a:xfrm>
            <a:off x="3541776" y="2651760"/>
            <a:ext cx="2060448" cy="219456"/>
          </a:xfrm>
          <a:prstGeom prst="rect">
            <a:avLst/>
          </a:prstGeom>
          <a:noFill/>
          <a:ln/>
        </p:spPr>
        <p:txBody>
          <a:bodyPr wrap="square" lIns="0" tIns="0" rIns="0" bIns="0" rtlCol="0" anchor="ctr"/>
          <a:lstStyle/>
          <a:p>
            <a:pPr indent="0" marL="0">
              <a:buNone/>
            </a:pPr>
            <a:r>
              <a:rPr lang="en-US" sz="1000" b="1" spc="100" kern="0" dirty="0">
                <a:solidFill>
                  <a:srgbClr val="38E0FF"/>
                </a:solidFill>
                <a:latin typeface="Arial" pitchFamily="34" charset="0"/>
                <a:ea typeface="Arial" pitchFamily="34" charset="-122"/>
                <a:cs typeface="Arial" pitchFamily="34" charset="-120"/>
              </a:rPr>
              <a:t>DIAGNOSE</a:t>
            </a:r>
            <a:endParaRPr lang="en-US" sz="1000" dirty="0"/>
          </a:p>
        </p:txBody>
      </p:sp>
      <p:sp>
        <p:nvSpPr>
          <p:cNvPr id="14" name="Text 12"/>
          <p:cNvSpPr/>
          <p:nvPr/>
        </p:nvSpPr>
        <p:spPr>
          <a:xfrm>
            <a:off x="3541776" y="2926080"/>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Cảnh báo &amp; đọc nguyên nhân</a:t>
            </a:r>
            <a:endParaRPr lang="en-US" sz="1400" dirty="0"/>
          </a:p>
        </p:txBody>
      </p:sp>
      <p:sp>
        <p:nvSpPr>
          <p:cNvPr id="15" name="Text 13"/>
          <p:cNvSpPr/>
          <p:nvPr/>
        </p:nvSpPr>
        <p:spPr>
          <a:xfrm>
            <a:off x="3541776" y="3310128"/>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Phát hiện bất thường, so sánh creative/campaign, chỉ ra chỗ cần xem trước.</a:t>
            </a:r>
            <a:endParaRPr lang="en-US" sz="1150" dirty="0"/>
          </a:p>
        </p:txBody>
      </p:sp>
      <p:sp>
        <p:nvSpPr>
          <p:cNvPr id="16" name="Shape 14"/>
          <p:cNvSpPr/>
          <p:nvPr/>
        </p:nvSpPr>
        <p:spPr>
          <a:xfrm>
            <a:off x="3541776" y="4206240"/>
            <a:ext cx="1594714" cy="274320"/>
          </a:xfrm>
          <a:prstGeom prst="roundRect">
            <a:avLst>
              <a:gd name="adj" fmla="val 50000"/>
            </a:avLst>
          </a:prstGeom>
          <a:solidFill>
            <a:srgbClr val="1B2547"/>
          </a:solidFill>
          <a:ln w="9525">
            <a:solidFill>
              <a:srgbClr val="3A4570"/>
            </a:solidFill>
            <a:prstDash val="solid"/>
          </a:ln>
        </p:spPr>
      </p:sp>
      <p:sp>
        <p:nvSpPr>
          <p:cNvPr id="17" name="Text 15"/>
          <p:cNvSpPr/>
          <p:nvPr/>
        </p:nvSpPr>
        <p:spPr>
          <a:xfrm>
            <a:off x="3541776" y="4206240"/>
            <a:ext cx="1594714" cy="274320"/>
          </a:xfrm>
          <a:prstGeom prst="rect">
            <a:avLst/>
          </a:prstGeom>
          <a:noFill/>
          <a:ln/>
        </p:spPr>
        <p:txBody>
          <a:bodyPr wrap="square" lIns="0" tIns="0" rIns="0" bIns="0" rtlCol="0" anchor="ctr"/>
          <a:lstStyle/>
          <a:p>
            <a:pPr algn="ctr" indent="0" marL="0">
              <a:buNone/>
            </a:pPr>
            <a:r>
              <a:rPr lang="en-US" sz="900" b="1" dirty="0">
                <a:solidFill>
                  <a:srgbClr val="DFE6FF"/>
                </a:solidFill>
                <a:latin typeface="Arial" pitchFamily="34" charset="0"/>
                <a:ea typeface="Arial" pitchFamily="34" charset="-122"/>
                <a:cs typeface="Arial" pitchFamily="34" charset="-120"/>
              </a:rPr>
              <a:t>UA reasoning layer</a:t>
            </a:r>
            <a:endParaRPr lang="en-US" sz="900" dirty="0"/>
          </a:p>
        </p:txBody>
      </p:sp>
      <p:sp>
        <p:nvSpPr>
          <p:cNvPr id="18" name="Shape 16"/>
          <p:cNvSpPr/>
          <p:nvPr/>
        </p:nvSpPr>
        <p:spPr>
          <a:xfrm>
            <a:off x="6096000" y="2468880"/>
            <a:ext cx="2499360" cy="2194560"/>
          </a:xfrm>
          <a:prstGeom prst="roundRect">
            <a:avLst>
              <a:gd name="adj" fmla="val 5417"/>
            </a:avLst>
          </a:prstGeom>
          <a:solidFill>
            <a:srgbClr val="141A3C"/>
          </a:solidFill>
          <a:ln w="12700">
            <a:solidFill>
              <a:srgbClr val="2E6B86"/>
            </a:solidFill>
            <a:prstDash val="solid"/>
          </a:ln>
          <a:effectLst>
            <a:outerShdw sx="100000" sy="100000" kx="0" ky="0" algn="bl" rotWithShape="0" blurRad="101600" dist="25400" dir="5400000">
              <a:srgbClr val="000000">
                <a:alpha val="28000"/>
              </a:srgbClr>
            </a:outerShdw>
          </a:effectLst>
        </p:spPr>
      </p:sp>
      <p:sp>
        <p:nvSpPr>
          <p:cNvPr id="19" name="Text 17"/>
          <p:cNvSpPr/>
          <p:nvPr/>
        </p:nvSpPr>
        <p:spPr>
          <a:xfrm>
            <a:off x="6315456" y="2651760"/>
            <a:ext cx="2060448" cy="219456"/>
          </a:xfrm>
          <a:prstGeom prst="rect">
            <a:avLst/>
          </a:prstGeom>
          <a:noFill/>
          <a:ln/>
        </p:spPr>
        <p:txBody>
          <a:bodyPr wrap="square" lIns="0" tIns="0" rIns="0" bIns="0" rtlCol="0" anchor="ctr"/>
          <a:lstStyle/>
          <a:p>
            <a:pPr indent="0" marL="0">
              <a:buNone/>
            </a:pPr>
            <a:r>
              <a:rPr lang="en-US" sz="1000" b="1" spc="100" kern="0" dirty="0">
                <a:solidFill>
                  <a:srgbClr val="38E0FF"/>
                </a:solidFill>
                <a:latin typeface="Arial" pitchFamily="34" charset="0"/>
                <a:ea typeface="Arial" pitchFamily="34" charset="-122"/>
                <a:cs typeface="Arial" pitchFamily="34" charset="-120"/>
              </a:rPr>
              <a:t>ACTION</a:t>
            </a:r>
            <a:endParaRPr lang="en-US" sz="1000" dirty="0"/>
          </a:p>
        </p:txBody>
      </p:sp>
      <p:sp>
        <p:nvSpPr>
          <p:cNvPr id="20" name="Text 18"/>
          <p:cNvSpPr/>
          <p:nvPr/>
        </p:nvSpPr>
        <p:spPr>
          <a:xfrm>
            <a:off x="6315456" y="2926080"/>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Gợi ý tối ưu &amp; scale</a:t>
            </a:r>
            <a:endParaRPr lang="en-US" sz="1400" dirty="0"/>
          </a:p>
        </p:txBody>
      </p:sp>
      <p:sp>
        <p:nvSpPr>
          <p:cNvPr id="21" name="Text 19"/>
          <p:cNvSpPr/>
          <p:nvPr/>
        </p:nvSpPr>
        <p:spPr>
          <a:xfrm>
            <a:off x="6315456" y="3310128"/>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Đề xuất pause, tăng budget, đổi bid hoặc mở test mới. Người làm UA bấm quyết định.</a:t>
            </a:r>
            <a:endParaRPr lang="en-US" sz="1150" dirty="0"/>
          </a:p>
        </p:txBody>
      </p:sp>
      <p:sp>
        <p:nvSpPr>
          <p:cNvPr id="22" name="Shape 20"/>
          <p:cNvSpPr/>
          <p:nvPr/>
        </p:nvSpPr>
        <p:spPr>
          <a:xfrm>
            <a:off x="6315456" y="4206240"/>
            <a:ext cx="1523390" cy="274320"/>
          </a:xfrm>
          <a:prstGeom prst="roundRect">
            <a:avLst>
              <a:gd name="adj" fmla="val 50000"/>
            </a:avLst>
          </a:prstGeom>
          <a:solidFill>
            <a:srgbClr val="1B2547"/>
          </a:solidFill>
          <a:ln w="9525">
            <a:solidFill>
              <a:srgbClr val="3A4570"/>
            </a:solidFill>
            <a:prstDash val="solid"/>
          </a:ln>
        </p:spPr>
      </p:sp>
      <p:sp>
        <p:nvSpPr>
          <p:cNvPr id="23" name="Text 21"/>
          <p:cNvSpPr/>
          <p:nvPr/>
        </p:nvSpPr>
        <p:spPr>
          <a:xfrm>
            <a:off x="6315456" y="4206240"/>
            <a:ext cx="1523390" cy="274320"/>
          </a:xfrm>
          <a:prstGeom prst="rect">
            <a:avLst/>
          </a:prstGeom>
          <a:noFill/>
          <a:ln/>
        </p:spPr>
        <p:txBody>
          <a:bodyPr wrap="square" lIns="0" tIns="0" rIns="0" bIns="0" rtlCol="0" anchor="ctr"/>
          <a:lstStyle/>
          <a:p>
            <a:pPr algn="ctr" indent="0" marL="0">
              <a:buNone/>
            </a:pPr>
            <a:r>
              <a:rPr lang="en-US" sz="900" b="1" dirty="0">
                <a:solidFill>
                  <a:srgbClr val="DFE6FF"/>
                </a:solidFill>
                <a:latin typeface="Arial" pitchFamily="34" charset="0"/>
                <a:ea typeface="Arial" pitchFamily="34" charset="-122"/>
                <a:cs typeface="Arial" pitchFamily="34" charset="-120"/>
              </a:rPr>
              <a:t>Human-in-the-loop</a:t>
            </a:r>
            <a:endParaRPr lang="en-US" sz="900" dirty="0"/>
          </a:p>
        </p:txBody>
      </p:sp>
      <p:sp>
        <p:nvSpPr>
          <p:cNvPr id="25" name="Text 22"/>
          <p:cNvSpPr/>
          <p:nvPr/>
        </p:nvSpPr>
        <p:spPr>
          <a:xfrm>
            <a:off x="8321040" y="4828032"/>
            <a:ext cx="685800" cy="228600"/>
          </a:xfrm>
          <a:prstGeom prst="rect">
            <a:avLst/>
          </a:prstGeom>
          <a:noFill/>
          <a:ln/>
        </p:spPr>
        <p:txBody>
          <a:bodyPr wrap="square" lIns="0" tIns="0" rIns="0" bIns="0" rtlCol="0" anchor="ctr"/>
          <a:lstStyle/>
          <a:p>
            <a:pPr algn="r" indent="0" marL="0">
              <a:buNone/>
            </a:pPr>
            <a:r>
              <a:rPr lang="en-US" sz="900" dirty="0">
                <a:solidFill>
                  <a:srgbClr val="9AA6C7"/>
                </a:solidFill>
                <a:latin typeface="Arial" pitchFamily="34" charset="0"/>
                <a:ea typeface="Arial" pitchFamily="34" charset="-122"/>
                <a:cs typeface="Arial" pitchFamily="34" charset="-120"/>
              </a:rPr>
              <a:t>9 / 14</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2A"/>
        </a:solidFill>
      </p:bgPr>
    </p:bg>
    <p:spTree>
      <p:nvGrpSpPr>
        <p:cNvPr id="1" name=""/>
        <p:cNvGrpSpPr/>
        <p:nvPr/>
      </p:nvGrpSpPr>
      <p:grpSpPr>
        <a:xfrm>
          <a:off x="0" y="0"/>
          <a:ext cx="0" cy="0"/>
          <a:chOff x="0" y="0"/>
          <a:chExt cx="0" cy="0"/>
        </a:xfrm>
      </p:grpSpPr>
      <p:sp>
        <p:nvSpPr>
          <p:cNvPr id="2" name="Shape 0"/>
          <p:cNvSpPr/>
          <p:nvPr/>
        </p:nvSpPr>
        <p:spPr>
          <a:xfrm>
            <a:off x="548640" y="402336"/>
            <a:ext cx="91440" cy="91440"/>
          </a:xfrm>
          <a:prstGeom prst="ellipse">
            <a:avLst/>
          </a:prstGeom>
          <a:solidFill>
            <a:srgbClr val="38E0FF"/>
          </a:solidFill>
          <a:ln/>
        </p:spPr>
      </p:sp>
      <p:sp>
        <p:nvSpPr>
          <p:cNvPr id="3" name="Text 1"/>
          <p:cNvSpPr/>
          <p:nvPr/>
        </p:nvSpPr>
        <p:spPr>
          <a:xfrm>
            <a:off x="713232" y="310896"/>
            <a:ext cx="7315200" cy="274320"/>
          </a:xfrm>
          <a:prstGeom prst="rect">
            <a:avLst/>
          </a:prstGeom>
          <a:noFill/>
          <a:ln/>
        </p:spPr>
        <p:txBody>
          <a:bodyPr wrap="square" lIns="0" tIns="0" rIns="0" bIns="0" rtlCol="0" anchor="ctr"/>
          <a:lstStyle/>
          <a:p>
            <a:pPr indent="0" marL="0">
              <a:buNone/>
            </a:pPr>
            <a:r>
              <a:rPr lang="en-US" sz="1100" b="1" spc="200" kern="0" dirty="0">
                <a:solidFill>
                  <a:srgbClr val="38E0FF"/>
                </a:solidFill>
                <a:latin typeface="Arial" pitchFamily="34" charset="0"/>
                <a:ea typeface="Arial" pitchFamily="34" charset="-122"/>
                <a:cs typeface="Arial" pitchFamily="34" charset="-120"/>
              </a:rPr>
              <a:t>CASE STUDY · WORKFLOW 3</a:t>
            </a:r>
            <a:endParaRPr lang="en-US" sz="1100" dirty="0"/>
          </a:p>
        </p:txBody>
      </p:sp>
      <p:sp>
        <p:nvSpPr>
          <p:cNvPr id="4" name="Text 2"/>
          <p:cNvSpPr/>
          <p:nvPr/>
        </p:nvSpPr>
        <p:spPr>
          <a:xfrm>
            <a:off x="548640" y="676656"/>
            <a:ext cx="8046720" cy="914400"/>
          </a:xfrm>
          <a:prstGeom prst="rect">
            <a:avLst/>
          </a:prstGeom>
          <a:noFill/>
          <a:ln/>
        </p:spPr>
        <p:txBody>
          <a:bodyPr wrap="square" lIns="0" tIns="0" rIns="0" bIns="0" rtlCol="0" anchor="t"/>
          <a:lstStyle/>
          <a:p>
            <a:pPr indent="0" marL="0">
              <a:lnSpc>
                <a:spcPct val="102000"/>
              </a:lnSpc>
              <a:buNone/>
            </a:pPr>
            <a:r>
              <a:rPr lang="en-US" sz="3000" b="1" dirty="0">
                <a:solidFill>
                  <a:srgbClr val="F6F8FF"/>
                </a:solidFill>
                <a:latin typeface="Arial" pitchFamily="34" charset="0"/>
                <a:ea typeface="Arial" pitchFamily="34" charset="-122"/>
                <a:cs typeface="Arial" pitchFamily="34" charset="-120"/>
              </a:rPr>
              <a:t>UA Agent · Danh mục app EXO</a:t>
            </a:r>
            <a:endParaRPr lang="en-US" sz="3000" dirty="0"/>
          </a:p>
        </p:txBody>
      </p:sp>
      <p:sp>
        <p:nvSpPr>
          <p:cNvPr id="5" name="Text 3"/>
          <p:cNvSpPr/>
          <p:nvPr/>
        </p:nvSpPr>
        <p:spPr>
          <a:xfrm>
            <a:off x="548640" y="1554480"/>
            <a:ext cx="8046720" cy="777240"/>
          </a:xfrm>
          <a:prstGeom prst="rect">
            <a:avLst/>
          </a:prstGeom>
          <a:noFill/>
          <a:ln/>
        </p:spPr>
        <p:txBody>
          <a:bodyPr wrap="square" lIns="0" tIns="0" rIns="0" bIns="0" rtlCol="0" anchor="t"/>
          <a:lstStyle/>
          <a:p>
            <a:pPr indent="0" marL="0">
              <a:lnSpc>
                <a:spcPct val="118000"/>
              </a:lnSpc>
              <a:buNone/>
            </a:pPr>
            <a:r>
              <a:rPr lang="en-US" sz="1350" dirty="0">
                <a:solidFill>
                  <a:srgbClr val="9AA6C7"/>
                </a:solidFill>
                <a:latin typeface="Arial" pitchFamily="34" charset="0"/>
                <a:ea typeface="Arial" pitchFamily="34" charset="-122"/>
                <a:cs typeface="Arial" pitchFamily="34" charset="-120"/>
              </a:rPr>
              <a:t>Agent trực số 24/7 trên toàn danh mục — phát hiện bất thường sớm, gợi ý pause/scale, marketer bấm quyết định cuối.</a:t>
            </a:r>
            <a:endParaRPr lang="en-US" sz="1350" dirty="0"/>
          </a:p>
        </p:txBody>
      </p:sp>
      <p:sp>
        <p:nvSpPr>
          <p:cNvPr id="6" name="Text 4"/>
          <p:cNvSpPr/>
          <p:nvPr/>
        </p:nvSpPr>
        <p:spPr>
          <a:xfrm>
            <a:off x="548640" y="2788920"/>
            <a:ext cx="1783080" cy="725214"/>
          </a:xfrm>
          <a:prstGeom prst="rect">
            <a:avLst/>
          </a:prstGeom>
          <a:noFill/>
          <a:ln/>
        </p:spPr>
        <p:txBody>
          <a:bodyPr wrap="square" lIns="0" tIns="0" rIns="0" bIns="0" rtlCol="0" anchor="t"/>
          <a:lstStyle/>
          <a:p>
            <a:pPr algn="l" indent="0" marL="0">
              <a:buNone/>
            </a:pPr>
            <a:r>
              <a:rPr lang="en-US" sz="4600" b="1" dirty="0">
                <a:solidFill>
                  <a:srgbClr val="38E0FF"/>
                </a:solidFill>
                <a:latin typeface="Arial" pitchFamily="34" charset="0"/>
                <a:ea typeface="Arial" pitchFamily="34" charset="-122"/>
                <a:cs typeface="Arial" pitchFamily="34" charset="-120"/>
              </a:rPr>
              <a:t>9,053</a:t>
            </a:r>
            <a:endParaRPr lang="en-US" sz="4600" dirty="0"/>
          </a:p>
        </p:txBody>
      </p:sp>
      <p:sp>
        <p:nvSpPr>
          <p:cNvPr id="7" name="Text 5"/>
          <p:cNvSpPr/>
          <p:nvPr/>
        </p:nvSpPr>
        <p:spPr>
          <a:xfrm>
            <a:off x="548640" y="3532422"/>
            <a:ext cx="1783080" cy="566928"/>
          </a:xfrm>
          <a:prstGeom prst="rect">
            <a:avLst/>
          </a:prstGeom>
          <a:noFill/>
          <a:ln/>
        </p:spPr>
        <p:txBody>
          <a:bodyPr wrap="square" lIns="0" tIns="0" rIns="0" bIns="0" rtlCol="0" anchor="t"/>
          <a:lstStyle/>
          <a:p>
            <a:pPr algn="l" indent="0" marL="0">
              <a:lnSpc>
                <a:spcPct val="112000"/>
              </a:lnSpc>
              <a:buNone/>
            </a:pPr>
            <a:r>
              <a:rPr lang="en-US" sz="1150" dirty="0">
                <a:solidFill>
                  <a:srgbClr val="9AA6C7"/>
                </a:solidFill>
                <a:latin typeface="Arial" pitchFamily="34" charset="0"/>
                <a:ea typeface="Arial" pitchFamily="34" charset="-122"/>
                <a:cs typeface="Arial" pitchFamily="34" charset="-120"/>
              </a:rPr>
              <a:t>campaign theo dõi 24/7</a:t>
            </a:r>
            <a:endParaRPr lang="en-US" sz="1150" dirty="0"/>
          </a:p>
        </p:txBody>
      </p:sp>
      <p:sp>
        <p:nvSpPr>
          <p:cNvPr id="8" name="Text 6"/>
          <p:cNvSpPr/>
          <p:nvPr/>
        </p:nvSpPr>
        <p:spPr>
          <a:xfrm>
            <a:off x="2560320" y="2788920"/>
            <a:ext cx="1783080" cy="725214"/>
          </a:xfrm>
          <a:prstGeom prst="rect">
            <a:avLst/>
          </a:prstGeom>
          <a:noFill/>
          <a:ln/>
        </p:spPr>
        <p:txBody>
          <a:bodyPr wrap="square" lIns="0" tIns="0" rIns="0" bIns="0" rtlCol="0" anchor="t"/>
          <a:lstStyle/>
          <a:p>
            <a:pPr algn="l" indent="0" marL="0">
              <a:buNone/>
            </a:pPr>
            <a:r>
              <a:rPr lang="en-US" sz="4600" b="1" dirty="0">
                <a:solidFill>
                  <a:srgbClr val="38E0FF"/>
                </a:solidFill>
                <a:latin typeface="Arial" pitchFamily="34" charset="0"/>
                <a:ea typeface="Arial" pitchFamily="34" charset="-122"/>
                <a:cs typeface="Arial" pitchFamily="34" charset="-120"/>
              </a:rPr>
              <a:t>109</a:t>
            </a:r>
            <a:endParaRPr lang="en-US" sz="4600" dirty="0"/>
          </a:p>
        </p:txBody>
      </p:sp>
      <p:sp>
        <p:nvSpPr>
          <p:cNvPr id="9" name="Text 7"/>
          <p:cNvSpPr/>
          <p:nvPr/>
        </p:nvSpPr>
        <p:spPr>
          <a:xfrm>
            <a:off x="2560320" y="3532422"/>
            <a:ext cx="1783080" cy="566928"/>
          </a:xfrm>
          <a:prstGeom prst="rect">
            <a:avLst/>
          </a:prstGeom>
          <a:noFill/>
          <a:ln/>
        </p:spPr>
        <p:txBody>
          <a:bodyPr wrap="square" lIns="0" tIns="0" rIns="0" bIns="0" rtlCol="0" anchor="t"/>
          <a:lstStyle/>
          <a:p>
            <a:pPr algn="l" indent="0" marL="0">
              <a:lnSpc>
                <a:spcPct val="112000"/>
              </a:lnSpc>
              <a:buNone/>
            </a:pPr>
            <a:r>
              <a:rPr lang="en-US" sz="1150" dirty="0">
                <a:solidFill>
                  <a:srgbClr val="9AA6C7"/>
                </a:solidFill>
                <a:latin typeface="Arial" pitchFamily="34" charset="0"/>
                <a:ea typeface="Arial" pitchFamily="34" charset="-122"/>
                <a:cs typeface="Arial" pitchFamily="34" charset="-120"/>
              </a:rPr>
              <a:t>app chạy song song</a:t>
            </a:r>
            <a:endParaRPr lang="en-US" sz="1150" dirty="0"/>
          </a:p>
        </p:txBody>
      </p:sp>
      <p:sp>
        <p:nvSpPr>
          <p:cNvPr id="10" name="Text 8"/>
          <p:cNvSpPr/>
          <p:nvPr/>
        </p:nvSpPr>
        <p:spPr>
          <a:xfrm>
            <a:off x="4572000" y="2788920"/>
            <a:ext cx="1783080" cy="725214"/>
          </a:xfrm>
          <a:prstGeom prst="rect">
            <a:avLst/>
          </a:prstGeom>
          <a:noFill/>
          <a:ln/>
        </p:spPr>
        <p:txBody>
          <a:bodyPr wrap="square" lIns="0" tIns="0" rIns="0" bIns="0" rtlCol="0" anchor="t"/>
          <a:lstStyle/>
          <a:p>
            <a:pPr algn="l" indent="0" marL="0">
              <a:buNone/>
            </a:pPr>
            <a:r>
              <a:rPr lang="en-US" sz="4600" b="1" dirty="0">
                <a:solidFill>
                  <a:srgbClr val="38E0FF"/>
                </a:solidFill>
                <a:latin typeface="Arial" pitchFamily="34" charset="0"/>
                <a:ea typeface="Arial" pitchFamily="34" charset="-122"/>
                <a:cs typeface="Arial" pitchFamily="34" charset="-120"/>
              </a:rPr>
              <a:t>127%</a:t>
            </a:r>
            <a:endParaRPr lang="en-US" sz="4600" dirty="0"/>
          </a:p>
        </p:txBody>
      </p:sp>
      <p:sp>
        <p:nvSpPr>
          <p:cNvPr id="11" name="Text 9"/>
          <p:cNvSpPr/>
          <p:nvPr/>
        </p:nvSpPr>
        <p:spPr>
          <a:xfrm>
            <a:off x="4572000" y="3532422"/>
            <a:ext cx="1783080" cy="566928"/>
          </a:xfrm>
          <a:prstGeom prst="rect">
            <a:avLst/>
          </a:prstGeom>
          <a:noFill/>
          <a:ln/>
        </p:spPr>
        <p:txBody>
          <a:bodyPr wrap="square" lIns="0" tIns="0" rIns="0" bIns="0" rtlCol="0" anchor="t"/>
          <a:lstStyle/>
          <a:p>
            <a:pPr algn="l" indent="0" marL="0">
              <a:lnSpc>
                <a:spcPct val="112000"/>
              </a:lnSpc>
              <a:buNone/>
            </a:pPr>
            <a:r>
              <a:rPr lang="en-US" sz="1150" dirty="0">
                <a:solidFill>
                  <a:srgbClr val="9AA6C7"/>
                </a:solidFill>
                <a:latin typeface="Arial" pitchFamily="34" charset="0"/>
                <a:ea typeface="Arial" pitchFamily="34" charset="-122"/>
                <a:cs typeface="Arial" pitchFamily="34" charset="-120"/>
              </a:rPr>
              <a:t>ROAS blend toàn danh mục</a:t>
            </a:r>
            <a:endParaRPr lang="en-US" sz="1150" dirty="0"/>
          </a:p>
        </p:txBody>
      </p:sp>
      <p:sp>
        <p:nvSpPr>
          <p:cNvPr id="12" name="Text 10"/>
          <p:cNvSpPr/>
          <p:nvPr/>
        </p:nvSpPr>
        <p:spPr>
          <a:xfrm>
            <a:off x="6583680" y="2788920"/>
            <a:ext cx="1783080" cy="725214"/>
          </a:xfrm>
          <a:prstGeom prst="rect">
            <a:avLst/>
          </a:prstGeom>
          <a:noFill/>
          <a:ln/>
        </p:spPr>
        <p:txBody>
          <a:bodyPr wrap="square" lIns="0" tIns="0" rIns="0" bIns="0" rtlCol="0" anchor="t"/>
          <a:lstStyle/>
          <a:p>
            <a:pPr algn="l" indent="0" marL="0">
              <a:buNone/>
            </a:pPr>
            <a:r>
              <a:rPr lang="en-US" sz="4600" b="1" dirty="0">
                <a:solidFill>
                  <a:srgbClr val="38E0FF"/>
                </a:solidFill>
                <a:latin typeface="Arial" pitchFamily="34" charset="0"/>
                <a:ea typeface="Arial" pitchFamily="34" charset="-122"/>
                <a:cs typeface="Arial" pitchFamily="34" charset="-120"/>
              </a:rPr>
              <a:t>~15%</a:t>
            </a:r>
            <a:endParaRPr lang="en-US" sz="4600" dirty="0"/>
          </a:p>
        </p:txBody>
      </p:sp>
      <p:sp>
        <p:nvSpPr>
          <p:cNvPr id="13" name="Text 11"/>
          <p:cNvSpPr/>
          <p:nvPr/>
        </p:nvSpPr>
        <p:spPr>
          <a:xfrm>
            <a:off x="6583680" y="3532422"/>
            <a:ext cx="1783080" cy="566928"/>
          </a:xfrm>
          <a:prstGeom prst="rect">
            <a:avLst/>
          </a:prstGeom>
          <a:noFill/>
          <a:ln/>
        </p:spPr>
        <p:txBody>
          <a:bodyPr wrap="square" lIns="0" tIns="0" rIns="0" bIns="0" rtlCol="0" anchor="t"/>
          <a:lstStyle/>
          <a:p>
            <a:pPr algn="l" indent="0" marL="0">
              <a:lnSpc>
                <a:spcPct val="112000"/>
              </a:lnSpc>
              <a:buNone/>
            </a:pPr>
            <a:r>
              <a:rPr lang="en-US" sz="1150" dirty="0">
                <a:solidFill>
                  <a:srgbClr val="9AA6C7"/>
                </a:solidFill>
                <a:latin typeface="Arial" pitchFamily="34" charset="0"/>
                <a:ea typeface="Arial" pitchFamily="34" charset="-122"/>
                <a:cs typeface="Arial" pitchFamily="34" charset="-120"/>
              </a:rPr>
              <a:t>budget tối ưu nhờ action kịp thời</a:t>
            </a:r>
            <a:endParaRPr lang="en-US" sz="1150" dirty="0"/>
          </a:p>
        </p:txBody>
      </p:sp>
      <p:sp>
        <p:nvSpPr>
          <p:cNvPr id="14" name="Text 12"/>
          <p:cNvSpPr/>
          <p:nvPr/>
        </p:nvSpPr>
        <p:spPr>
          <a:xfrm>
            <a:off x="548640" y="4526280"/>
            <a:ext cx="8229600" cy="274320"/>
          </a:xfrm>
          <a:prstGeom prst="rect">
            <a:avLst/>
          </a:prstGeom>
          <a:noFill/>
          <a:ln/>
        </p:spPr>
        <p:txBody>
          <a:bodyPr wrap="square" lIns="0" tIns="0" rIns="0" bIns="0" rtlCol="0" anchor="ctr"/>
          <a:lstStyle/>
          <a:p>
            <a:pPr indent="0" marL="0">
              <a:buNone/>
            </a:pPr>
            <a:r>
              <a:rPr lang="en-US" sz="1000" i="1" dirty="0">
                <a:solidFill>
                  <a:srgbClr val="9AA6C7"/>
                </a:solidFill>
                <a:latin typeface="Arial" pitchFamily="34" charset="0"/>
                <a:ea typeface="Arial" pitchFamily="34" charset="-122"/>
                <a:cs typeface="Arial" pitchFamily="34" charset="-120"/>
              </a:rPr>
              <a:t>Campaign · app · ROAS: số liệu thực tế (30 ngày, 248 quốc gia) · % budget tối ưu: ước lượng vận hành</a:t>
            </a:r>
            <a:endParaRPr lang="en-US" sz="1000" dirty="0"/>
          </a:p>
        </p:txBody>
      </p:sp>
      <p:sp>
        <p:nvSpPr>
          <p:cNvPr id="16" name="Text 13"/>
          <p:cNvSpPr/>
          <p:nvPr/>
        </p:nvSpPr>
        <p:spPr>
          <a:xfrm>
            <a:off x="8321040" y="4828032"/>
            <a:ext cx="685800" cy="228600"/>
          </a:xfrm>
          <a:prstGeom prst="rect">
            <a:avLst/>
          </a:prstGeom>
          <a:noFill/>
          <a:ln/>
        </p:spPr>
        <p:txBody>
          <a:bodyPr wrap="square" lIns="0" tIns="0" rIns="0" bIns="0" rtlCol="0" anchor="ctr"/>
          <a:lstStyle/>
          <a:p>
            <a:pPr algn="r" indent="0" marL="0">
              <a:buNone/>
            </a:pPr>
            <a:r>
              <a:rPr lang="en-US" sz="900" dirty="0">
                <a:solidFill>
                  <a:srgbClr val="9AA6C7"/>
                </a:solidFill>
                <a:latin typeface="Arial" pitchFamily="34" charset="0"/>
                <a:ea typeface="Arial" pitchFamily="34" charset="-122"/>
                <a:cs typeface="Arial" pitchFamily="34" charset="-120"/>
              </a:rPr>
              <a:t>10 / 14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2A"/>
        </a:solidFill>
      </p:bgPr>
    </p:bg>
    <p:spTree>
      <p:nvGrpSpPr>
        <p:cNvPr id="1" name=""/>
        <p:cNvGrpSpPr/>
        <p:nvPr/>
      </p:nvGrpSpPr>
      <p:grpSpPr>
        <a:xfrm>
          <a:off x="0" y="0"/>
          <a:ext cx="0" cy="0"/>
          <a:chOff x="0" y="0"/>
          <a:chExt cx="0" cy="0"/>
        </a:xfrm>
      </p:grpSpPr>
      <p:sp>
        <p:nvSpPr>
          <p:cNvPr id="2" name="Shape 0"/>
          <p:cNvSpPr/>
          <p:nvPr/>
        </p:nvSpPr>
        <p:spPr>
          <a:xfrm>
            <a:off x="548640" y="402336"/>
            <a:ext cx="91440" cy="91440"/>
          </a:xfrm>
          <a:prstGeom prst="ellipse">
            <a:avLst/>
          </a:prstGeom>
          <a:solidFill>
            <a:srgbClr val="38E0FF"/>
          </a:solidFill>
          <a:ln/>
        </p:spPr>
      </p:sp>
      <p:sp>
        <p:nvSpPr>
          <p:cNvPr id="3" name="Text 1"/>
          <p:cNvSpPr/>
          <p:nvPr/>
        </p:nvSpPr>
        <p:spPr>
          <a:xfrm>
            <a:off x="713232" y="310896"/>
            <a:ext cx="7315200" cy="274320"/>
          </a:xfrm>
          <a:prstGeom prst="rect">
            <a:avLst/>
          </a:prstGeom>
          <a:noFill/>
          <a:ln/>
        </p:spPr>
        <p:txBody>
          <a:bodyPr wrap="square" lIns="0" tIns="0" rIns="0" bIns="0" rtlCol="0" anchor="ctr"/>
          <a:lstStyle/>
          <a:p>
            <a:pPr indent="0" marL="0">
              <a:buNone/>
            </a:pPr>
            <a:r>
              <a:rPr lang="en-US" sz="1100" b="1" spc="200" kern="0" dirty="0">
                <a:solidFill>
                  <a:srgbClr val="38E0FF"/>
                </a:solidFill>
                <a:latin typeface="Arial" pitchFamily="34" charset="0"/>
                <a:ea typeface="Arial" pitchFamily="34" charset="-122"/>
                <a:cs typeface="Arial" pitchFamily="34" charset="-120"/>
              </a:rPr>
              <a:t>BỨC TRANH TỔNG</a:t>
            </a:r>
            <a:endParaRPr lang="en-US" sz="1100" dirty="0"/>
          </a:p>
        </p:txBody>
      </p:sp>
      <p:sp>
        <p:nvSpPr>
          <p:cNvPr id="4" name="Text 2"/>
          <p:cNvSpPr/>
          <p:nvPr/>
        </p:nvSpPr>
        <p:spPr>
          <a:xfrm>
            <a:off x="548640" y="676656"/>
            <a:ext cx="8046720" cy="914400"/>
          </a:xfrm>
          <a:prstGeom prst="rect">
            <a:avLst/>
          </a:prstGeom>
          <a:noFill/>
          <a:ln/>
        </p:spPr>
        <p:txBody>
          <a:bodyPr wrap="square" lIns="0" tIns="0" rIns="0" bIns="0" rtlCol="0" anchor="t"/>
          <a:lstStyle/>
          <a:p>
            <a:pPr indent="0" marL="0">
              <a:lnSpc>
                <a:spcPct val="102000"/>
              </a:lnSpc>
              <a:buNone/>
            </a:pPr>
            <a:r>
              <a:rPr lang="en-US" sz="3000" b="1" dirty="0">
                <a:solidFill>
                  <a:srgbClr val="F6F8FF"/>
                </a:solidFill>
                <a:latin typeface="Arial" pitchFamily="34" charset="0"/>
                <a:ea typeface="Arial" pitchFamily="34" charset="-122"/>
                <a:cs typeface="Arial" pitchFamily="34" charset="-120"/>
              </a:rPr>
              <a:t>Một vòng khép kín — </a:t>
            </a:r>
            <a:pPr indent="0" marL="0">
              <a:lnSpc>
                <a:spcPct val="102000"/>
              </a:lnSpc>
              <a:buNone/>
            </a:pPr>
            <a:r>
              <a:rPr lang="en-US" sz="3000" b="1" dirty="0">
                <a:solidFill>
                  <a:srgbClr val="38E0FF"/>
                </a:solidFill>
                <a:latin typeface="Arial" pitchFamily="34" charset="0"/>
                <a:ea typeface="Arial" pitchFamily="34" charset="-122"/>
                <a:cs typeface="Arial" pitchFamily="34" charset="-120"/>
              </a:rPr>
              <a:t>AI bôi trơn từng khớp</a:t>
            </a:r>
            <a:endParaRPr lang="en-US" sz="3000" dirty="0"/>
          </a:p>
        </p:txBody>
      </p:sp>
      <p:sp>
        <p:nvSpPr>
          <p:cNvPr id="5" name="Shape 3"/>
          <p:cNvSpPr/>
          <p:nvPr/>
        </p:nvSpPr>
        <p:spPr>
          <a:xfrm>
            <a:off x="548640" y="2148840"/>
            <a:ext cx="1463040" cy="1188720"/>
          </a:xfrm>
          <a:prstGeom prst="roundRect">
            <a:avLst>
              <a:gd name="adj" fmla="val 7692"/>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6" name="Text 4"/>
          <p:cNvSpPr/>
          <p:nvPr/>
        </p:nvSpPr>
        <p:spPr>
          <a:xfrm>
            <a:off x="640080" y="2313432"/>
            <a:ext cx="128016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6F8FF"/>
                </a:solidFill>
                <a:latin typeface="Arial" pitchFamily="34" charset="0"/>
                <a:ea typeface="Arial" pitchFamily="34" charset="-122"/>
                <a:cs typeface="Arial" pitchFamily="34" charset="-120"/>
              </a:rPr>
              <a:t>Ý tưởng</a:t>
            </a:r>
            <a:endParaRPr lang="en-US" sz="1400" dirty="0"/>
          </a:p>
        </p:txBody>
      </p:sp>
      <p:sp>
        <p:nvSpPr>
          <p:cNvPr id="7" name="Text 5"/>
          <p:cNvSpPr/>
          <p:nvPr/>
        </p:nvSpPr>
        <p:spPr>
          <a:xfrm>
            <a:off x="1920240" y="2560320"/>
            <a:ext cx="365760" cy="365760"/>
          </a:xfrm>
          <a:prstGeom prst="rect">
            <a:avLst/>
          </a:prstGeom>
          <a:noFill/>
          <a:ln/>
        </p:spPr>
        <p:txBody>
          <a:bodyPr wrap="square" lIns="0" tIns="0" rIns="0" bIns="0" rtlCol="0" anchor="ctr"/>
          <a:lstStyle/>
          <a:p>
            <a:pPr algn="ctr" indent="0" marL="0">
              <a:buNone/>
            </a:pPr>
            <a:r>
              <a:rPr lang="en-US" sz="2000" b="1" dirty="0">
                <a:solidFill>
                  <a:srgbClr val="38E0FF"/>
                </a:solidFill>
                <a:latin typeface="Arial" pitchFamily="34" charset="0"/>
                <a:ea typeface="Arial" pitchFamily="34" charset="-122"/>
                <a:cs typeface="Arial" pitchFamily="34" charset="-120"/>
              </a:rPr>
              <a:t>→</a:t>
            </a:r>
            <a:endParaRPr lang="en-US" sz="2000" dirty="0"/>
          </a:p>
        </p:txBody>
      </p:sp>
      <p:sp>
        <p:nvSpPr>
          <p:cNvPr id="8" name="Shape 6"/>
          <p:cNvSpPr/>
          <p:nvPr/>
        </p:nvSpPr>
        <p:spPr>
          <a:xfrm>
            <a:off x="2194560" y="2148840"/>
            <a:ext cx="1463040" cy="1188720"/>
          </a:xfrm>
          <a:prstGeom prst="roundRect">
            <a:avLst>
              <a:gd name="adj" fmla="val 7692"/>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9" name="Text 7"/>
          <p:cNvSpPr/>
          <p:nvPr/>
        </p:nvSpPr>
        <p:spPr>
          <a:xfrm>
            <a:off x="2286000" y="2368296"/>
            <a:ext cx="128016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6F8FF"/>
                </a:solidFill>
                <a:latin typeface="Arial" pitchFamily="34" charset="0"/>
                <a:ea typeface="Arial" pitchFamily="34" charset="-122"/>
                <a:cs typeface="Arial" pitchFamily="34" charset="-120"/>
              </a:rPr>
              <a:t>App</a:t>
            </a:r>
            <a:endParaRPr lang="en-US" sz="1400" dirty="0"/>
          </a:p>
        </p:txBody>
      </p:sp>
      <p:sp>
        <p:nvSpPr>
          <p:cNvPr id="10" name="Text 8"/>
          <p:cNvSpPr/>
          <p:nvPr/>
        </p:nvSpPr>
        <p:spPr>
          <a:xfrm>
            <a:off x="2267712" y="2880360"/>
            <a:ext cx="1316736" cy="384048"/>
          </a:xfrm>
          <a:prstGeom prst="rect">
            <a:avLst/>
          </a:prstGeom>
          <a:noFill/>
          <a:ln/>
        </p:spPr>
        <p:txBody>
          <a:bodyPr wrap="square" lIns="0" tIns="0" rIns="0" bIns="0" rtlCol="0" anchor="t"/>
          <a:lstStyle/>
          <a:p>
            <a:pPr algn="ctr" indent="0" marL="0">
              <a:lnSpc>
                <a:spcPct val="105000"/>
              </a:lnSpc>
              <a:buNone/>
            </a:pPr>
            <a:r>
              <a:rPr lang="en-US" sz="1050" dirty="0">
                <a:solidFill>
                  <a:srgbClr val="9AA6C7"/>
                </a:solidFill>
                <a:latin typeface="Arial" pitchFamily="34" charset="0"/>
                <a:ea typeface="Arial" pitchFamily="34" charset="-122"/>
                <a:cs typeface="Arial" pitchFamily="34" charset="-120"/>
              </a:rPr>
              <a:t>Xưởng App · Build</a:t>
            </a:r>
            <a:endParaRPr lang="en-US" sz="1050" dirty="0"/>
          </a:p>
        </p:txBody>
      </p:sp>
      <p:sp>
        <p:nvSpPr>
          <p:cNvPr id="11" name="Text 9"/>
          <p:cNvSpPr/>
          <p:nvPr/>
        </p:nvSpPr>
        <p:spPr>
          <a:xfrm>
            <a:off x="3566160" y="2560320"/>
            <a:ext cx="365760" cy="365760"/>
          </a:xfrm>
          <a:prstGeom prst="rect">
            <a:avLst/>
          </a:prstGeom>
          <a:noFill/>
          <a:ln/>
        </p:spPr>
        <p:txBody>
          <a:bodyPr wrap="square" lIns="0" tIns="0" rIns="0" bIns="0" rtlCol="0" anchor="ctr"/>
          <a:lstStyle/>
          <a:p>
            <a:pPr algn="ctr" indent="0" marL="0">
              <a:buNone/>
            </a:pPr>
            <a:r>
              <a:rPr lang="en-US" sz="2000" b="1" dirty="0">
                <a:solidFill>
                  <a:srgbClr val="38E0FF"/>
                </a:solidFill>
                <a:latin typeface="Arial" pitchFamily="34" charset="0"/>
                <a:ea typeface="Arial" pitchFamily="34" charset="-122"/>
                <a:cs typeface="Arial" pitchFamily="34" charset="-120"/>
              </a:rPr>
              <a:t>→</a:t>
            </a:r>
            <a:endParaRPr lang="en-US" sz="2000" dirty="0"/>
          </a:p>
        </p:txBody>
      </p:sp>
      <p:sp>
        <p:nvSpPr>
          <p:cNvPr id="12" name="Shape 10"/>
          <p:cNvSpPr/>
          <p:nvPr/>
        </p:nvSpPr>
        <p:spPr>
          <a:xfrm>
            <a:off x="3840480" y="2148840"/>
            <a:ext cx="1463040" cy="1188720"/>
          </a:xfrm>
          <a:prstGeom prst="roundRect">
            <a:avLst>
              <a:gd name="adj" fmla="val 7692"/>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13" name="Text 11"/>
          <p:cNvSpPr/>
          <p:nvPr/>
        </p:nvSpPr>
        <p:spPr>
          <a:xfrm>
            <a:off x="3931920" y="2368296"/>
            <a:ext cx="128016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6F8FF"/>
                </a:solidFill>
                <a:latin typeface="Arial" pitchFamily="34" charset="0"/>
                <a:ea typeface="Arial" pitchFamily="34" charset="-122"/>
                <a:cs typeface="Arial" pitchFamily="34" charset="-120"/>
              </a:rPr>
              <a:t>Ship &amp; QA</a:t>
            </a:r>
            <a:endParaRPr lang="en-US" sz="1400" dirty="0"/>
          </a:p>
        </p:txBody>
      </p:sp>
      <p:sp>
        <p:nvSpPr>
          <p:cNvPr id="14" name="Text 12"/>
          <p:cNvSpPr/>
          <p:nvPr/>
        </p:nvSpPr>
        <p:spPr>
          <a:xfrm>
            <a:off x="3913632" y="2880360"/>
            <a:ext cx="1316736" cy="384048"/>
          </a:xfrm>
          <a:prstGeom prst="rect">
            <a:avLst/>
          </a:prstGeom>
          <a:noFill/>
          <a:ln/>
        </p:spPr>
        <p:txBody>
          <a:bodyPr wrap="square" lIns="0" tIns="0" rIns="0" bIns="0" rtlCol="0" anchor="t"/>
          <a:lstStyle/>
          <a:p>
            <a:pPr algn="ctr" indent="0" marL="0">
              <a:lnSpc>
                <a:spcPct val="105000"/>
              </a:lnSpc>
              <a:buNone/>
            </a:pPr>
            <a:r>
              <a:rPr lang="en-US" sz="1050" dirty="0">
                <a:solidFill>
                  <a:srgbClr val="9AA6C7"/>
                </a:solidFill>
                <a:latin typeface="Arial" pitchFamily="34" charset="0"/>
                <a:ea typeface="Arial" pitchFamily="34" charset="-122"/>
                <a:cs typeface="Arial" pitchFamily="34" charset="-120"/>
              </a:rPr>
              <a:t>Xưởng App · QA</a:t>
            </a:r>
            <a:endParaRPr lang="en-US" sz="1050" dirty="0"/>
          </a:p>
        </p:txBody>
      </p:sp>
      <p:sp>
        <p:nvSpPr>
          <p:cNvPr id="15" name="Text 13"/>
          <p:cNvSpPr/>
          <p:nvPr/>
        </p:nvSpPr>
        <p:spPr>
          <a:xfrm>
            <a:off x="5212080" y="2560320"/>
            <a:ext cx="365760" cy="365760"/>
          </a:xfrm>
          <a:prstGeom prst="rect">
            <a:avLst/>
          </a:prstGeom>
          <a:noFill/>
          <a:ln/>
        </p:spPr>
        <p:txBody>
          <a:bodyPr wrap="square" lIns="0" tIns="0" rIns="0" bIns="0" rtlCol="0" anchor="ctr"/>
          <a:lstStyle/>
          <a:p>
            <a:pPr algn="ctr" indent="0" marL="0">
              <a:buNone/>
            </a:pPr>
            <a:r>
              <a:rPr lang="en-US" sz="2000" b="1" dirty="0">
                <a:solidFill>
                  <a:srgbClr val="38E0FF"/>
                </a:solidFill>
                <a:latin typeface="Arial" pitchFamily="34" charset="0"/>
                <a:ea typeface="Arial" pitchFamily="34" charset="-122"/>
                <a:cs typeface="Arial" pitchFamily="34" charset="-120"/>
              </a:rPr>
              <a:t>→</a:t>
            </a:r>
            <a:endParaRPr lang="en-US" sz="2000" dirty="0"/>
          </a:p>
        </p:txBody>
      </p:sp>
      <p:sp>
        <p:nvSpPr>
          <p:cNvPr id="16" name="Shape 14"/>
          <p:cNvSpPr/>
          <p:nvPr/>
        </p:nvSpPr>
        <p:spPr>
          <a:xfrm>
            <a:off x="5486400" y="2148840"/>
            <a:ext cx="1463040" cy="1188720"/>
          </a:xfrm>
          <a:prstGeom prst="roundRect">
            <a:avLst>
              <a:gd name="adj" fmla="val 7692"/>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17" name="Text 15"/>
          <p:cNvSpPr/>
          <p:nvPr/>
        </p:nvSpPr>
        <p:spPr>
          <a:xfrm>
            <a:off x="5577840" y="2368296"/>
            <a:ext cx="128016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6F8FF"/>
                </a:solidFill>
                <a:latin typeface="Arial" pitchFamily="34" charset="0"/>
                <a:ea typeface="Arial" pitchFamily="34" charset="-122"/>
                <a:cs typeface="Arial" pitchFamily="34" charset="-120"/>
              </a:rPr>
              <a:t>Creative</a:t>
            </a:r>
            <a:endParaRPr lang="en-US" sz="1400" dirty="0"/>
          </a:p>
        </p:txBody>
      </p:sp>
      <p:sp>
        <p:nvSpPr>
          <p:cNvPr id="18" name="Text 16"/>
          <p:cNvSpPr/>
          <p:nvPr/>
        </p:nvSpPr>
        <p:spPr>
          <a:xfrm>
            <a:off x="5559552" y="2880360"/>
            <a:ext cx="1316736" cy="384048"/>
          </a:xfrm>
          <a:prstGeom prst="rect">
            <a:avLst/>
          </a:prstGeom>
          <a:noFill/>
          <a:ln/>
        </p:spPr>
        <p:txBody>
          <a:bodyPr wrap="square" lIns="0" tIns="0" rIns="0" bIns="0" rtlCol="0" anchor="t"/>
          <a:lstStyle/>
          <a:p>
            <a:pPr algn="ctr" indent="0" marL="0">
              <a:lnSpc>
                <a:spcPct val="105000"/>
              </a:lnSpc>
              <a:buNone/>
            </a:pPr>
            <a:r>
              <a:rPr lang="en-US" sz="1050" dirty="0">
                <a:solidFill>
                  <a:srgbClr val="9AA6C7"/>
                </a:solidFill>
                <a:latin typeface="Arial" pitchFamily="34" charset="0"/>
                <a:ea typeface="Arial" pitchFamily="34" charset="-122"/>
                <a:cs typeface="Arial" pitchFamily="34" charset="-120"/>
              </a:rPr>
              <a:t>Production</a:t>
            </a:r>
            <a:endParaRPr lang="en-US" sz="1050" dirty="0"/>
          </a:p>
        </p:txBody>
      </p:sp>
      <p:sp>
        <p:nvSpPr>
          <p:cNvPr id="19" name="Text 17"/>
          <p:cNvSpPr/>
          <p:nvPr/>
        </p:nvSpPr>
        <p:spPr>
          <a:xfrm>
            <a:off x="6858000" y="2560320"/>
            <a:ext cx="365760" cy="365760"/>
          </a:xfrm>
          <a:prstGeom prst="rect">
            <a:avLst/>
          </a:prstGeom>
          <a:noFill/>
          <a:ln/>
        </p:spPr>
        <p:txBody>
          <a:bodyPr wrap="square" lIns="0" tIns="0" rIns="0" bIns="0" rtlCol="0" anchor="ctr"/>
          <a:lstStyle/>
          <a:p>
            <a:pPr algn="ctr" indent="0" marL="0">
              <a:buNone/>
            </a:pPr>
            <a:r>
              <a:rPr lang="en-US" sz="2000" b="1" dirty="0">
                <a:solidFill>
                  <a:srgbClr val="38E0FF"/>
                </a:solidFill>
                <a:latin typeface="Arial" pitchFamily="34" charset="0"/>
                <a:ea typeface="Arial" pitchFamily="34" charset="-122"/>
                <a:cs typeface="Arial" pitchFamily="34" charset="-120"/>
              </a:rPr>
              <a:t>→</a:t>
            </a:r>
            <a:endParaRPr lang="en-US" sz="2000" dirty="0"/>
          </a:p>
        </p:txBody>
      </p:sp>
      <p:sp>
        <p:nvSpPr>
          <p:cNvPr id="20" name="Shape 18"/>
          <p:cNvSpPr/>
          <p:nvPr/>
        </p:nvSpPr>
        <p:spPr>
          <a:xfrm>
            <a:off x="7132320" y="2148840"/>
            <a:ext cx="1463040" cy="1188720"/>
          </a:xfrm>
          <a:prstGeom prst="roundRect">
            <a:avLst>
              <a:gd name="adj" fmla="val 7692"/>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21" name="Text 19"/>
          <p:cNvSpPr/>
          <p:nvPr/>
        </p:nvSpPr>
        <p:spPr>
          <a:xfrm>
            <a:off x="7223760" y="2368296"/>
            <a:ext cx="1280160" cy="457200"/>
          </a:xfrm>
          <a:prstGeom prst="rect">
            <a:avLst/>
          </a:prstGeom>
          <a:noFill/>
          <a:ln/>
        </p:spPr>
        <p:txBody>
          <a:bodyPr wrap="square" lIns="0" tIns="0" rIns="0" bIns="0" rtlCol="0" anchor="ctr"/>
          <a:lstStyle/>
          <a:p>
            <a:pPr algn="ctr" indent="0" marL="0">
              <a:lnSpc>
                <a:spcPct val="100000"/>
              </a:lnSpc>
              <a:buNone/>
            </a:pPr>
            <a:r>
              <a:rPr lang="en-US" sz="1400" b="1" dirty="0">
                <a:solidFill>
                  <a:srgbClr val="F6F8FF"/>
                </a:solidFill>
                <a:latin typeface="Arial" pitchFamily="34" charset="0"/>
                <a:ea typeface="Arial" pitchFamily="34" charset="-122"/>
                <a:cs typeface="Arial" pitchFamily="34" charset="-120"/>
              </a:rPr>
              <a:t>Scale</a:t>
            </a:r>
            <a:endParaRPr lang="en-US" sz="1400" dirty="0"/>
          </a:p>
        </p:txBody>
      </p:sp>
      <p:sp>
        <p:nvSpPr>
          <p:cNvPr id="22" name="Text 20"/>
          <p:cNvSpPr/>
          <p:nvPr/>
        </p:nvSpPr>
        <p:spPr>
          <a:xfrm>
            <a:off x="7205472" y="2880360"/>
            <a:ext cx="1316736" cy="384048"/>
          </a:xfrm>
          <a:prstGeom prst="rect">
            <a:avLst/>
          </a:prstGeom>
          <a:noFill/>
          <a:ln/>
        </p:spPr>
        <p:txBody>
          <a:bodyPr wrap="square" lIns="0" tIns="0" rIns="0" bIns="0" rtlCol="0" anchor="t"/>
          <a:lstStyle/>
          <a:p>
            <a:pPr algn="ctr" indent="0" marL="0">
              <a:lnSpc>
                <a:spcPct val="105000"/>
              </a:lnSpc>
              <a:buNone/>
            </a:pPr>
            <a:r>
              <a:rPr lang="en-US" sz="1050" dirty="0">
                <a:solidFill>
                  <a:srgbClr val="9AA6C7"/>
                </a:solidFill>
                <a:latin typeface="Arial" pitchFamily="34" charset="0"/>
                <a:ea typeface="Arial" pitchFamily="34" charset="-122"/>
                <a:cs typeface="Arial" pitchFamily="34" charset="-120"/>
              </a:rPr>
              <a:t>UA Agent</a:t>
            </a:r>
            <a:endParaRPr lang="en-US" sz="1050" dirty="0"/>
          </a:p>
        </p:txBody>
      </p:sp>
      <p:sp>
        <p:nvSpPr>
          <p:cNvPr id="23" name="Text 21"/>
          <p:cNvSpPr/>
          <p:nvPr/>
        </p:nvSpPr>
        <p:spPr>
          <a:xfrm>
            <a:off x="548640" y="3931920"/>
            <a:ext cx="8046720" cy="777240"/>
          </a:xfrm>
          <a:prstGeom prst="rect">
            <a:avLst/>
          </a:prstGeom>
          <a:noFill/>
          <a:ln/>
        </p:spPr>
        <p:txBody>
          <a:bodyPr wrap="square" lIns="0" tIns="0" rIns="0" bIns="0" rtlCol="0" anchor="t"/>
          <a:lstStyle/>
          <a:p>
            <a:pPr indent="0" marL="0">
              <a:lnSpc>
                <a:spcPct val="118000"/>
              </a:lnSpc>
              <a:buNone/>
            </a:pPr>
            <a:r>
              <a:rPr lang="en-US" sz="1350" b="1" dirty="0">
                <a:solidFill>
                  <a:srgbClr val="FFFFFF"/>
                </a:solidFill>
                <a:latin typeface="Arial" pitchFamily="34" charset="0"/>
                <a:ea typeface="Arial" pitchFamily="34" charset="-122"/>
                <a:cs typeface="Arial" pitchFamily="34" charset="-120"/>
              </a:rPr>
              <a:t>Data</a:t>
            </a:r>
            <a:pPr indent="0" marL="0">
              <a:lnSpc>
                <a:spcPct val="118000"/>
              </a:lnSpc>
              <a:buNone/>
            </a:pPr>
            <a:r>
              <a:rPr lang="en-US" sz="1350" dirty="0">
                <a:solidFill>
                  <a:srgbClr val="9AA6C7"/>
                </a:solidFill>
                <a:latin typeface="Arial" pitchFamily="34" charset="0"/>
                <a:ea typeface="Arial" pitchFamily="34" charset="-122"/>
                <a:cs typeface="Arial" pitchFamily="34" charset="-120"/>
              </a:rPr>
              <a:t> từ người dùng &amp; quảng cáo quay ngược lại nuôi ý tưởng vòng sau. Càng nhiều vòng → studio càng nhanh.</a:t>
            </a:r>
            <a:endParaRPr lang="en-US" sz="1350" dirty="0"/>
          </a:p>
        </p:txBody>
      </p:sp>
      <p:sp>
        <p:nvSpPr>
          <p:cNvPr id="25" name="Text 22"/>
          <p:cNvSpPr/>
          <p:nvPr/>
        </p:nvSpPr>
        <p:spPr>
          <a:xfrm>
            <a:off x="8321040" y="4828032"/>
            <a:ext cx="685800" cy="228600"/>
          </a:xfrm>
          <a:prstGeom prst="rect">
            <a:avLst/>
          </a:prstGeom>
          <a:noFill/>
          <a:ln/>
        </p:spPr>
        <p:txBody>
          <a:bodyPr wrap="square" lIns="0" tIns="0" rIns="0" bIns="0" rtlCol="0" anchor="ctr"/>
          <a:lstStyle/>
          <a:p>
            <a:pPr algn="r" indent="0" marL="0">
              <a:buNone/>
            </a:pPr>
            <a:r>
              <a:rPr lang="en-US" sz="900" dirty="0">
                <a:solidFill>
                  <a:srgbClr val="9AA6C7"/>
                </a:solidFill>
                <a:latin typeface="Arial" pitchFamily="34" charset="0"/>
                <a:ea typeface="Arial" pitchFamily="34" charset="-122"/>
                <a:cs typeface="Arial" pitchFamily="34" charset="-120"/>
              </a:rPr>
              <a:t>11 / 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2A"/>
        </a:solidFill>
      </p:bgPr>
    </p:bg>
    <p:spTree>
      <p:nvGrpSpPr>
        <p:cNvPr id="1" name=""/>
        <p:cNvGrpSpPr/>
        <p:nvPr/>
      </p:nvGrpSpPr>
      <p:grpSpPr>
        <a:xfrm>
          <a:off x="0" y="0"/>
          <a:ext cx="0" cy="0"/>
          <a:chOff x="0" y="0"/>
          <a:chExt cx="0" cy="0"/>
        </a:xfrm>
      </p:grpSpPr>
      <p:sp>
        <p:nvSpPr>
          <p:cNvPr id="2" name="Shape 0"/>
          <p:cNvSpPr/>
          <p:nvPr/>
        </p:nvSpPr>
        <p:spPr>
          <a:xfrm>
            <a:off x="548640" y="402336"/>
            <a:ext cx="91440" cy="91440"/>
          </a:xfrm>
          <a:prstGeom prst="ellipse">
            <a:avLst/>
          </a:prstGeom>
          <a:solidFill>
            <a:srgbClr val="38E0FF"/>
          </a:solidFill>
          <a:ln/>
        </p:spPr>
      </p:sp>
      <p:sp>
        <p:nvSpPr>
          <p:cNvPr id="3" name="Text 1"/>
          <p:cNvSpPr/>
          <p:nvPr/>
        </p:nvSpPr>
        <p:spPr>
          <a:xfrm>
            <a:off x="713232" y="310896"/>
            <a:ext cx="7315200" cy="274320"/>
          </a:xfrm>
          <a:prstGeom prst="rect">
            <a:avLst/>
          </a:prstGeom>
          <a:noFill/>
          <a:ln/>
        </p:spPr>
        <p:txBody>
          <a:bodyPr wrap="square" lIns="0" tIns="0" rIns="0" bIns="0" rtlCol="0" anchor="ctr"/>
          <a:lstStyle/>
          <a:p>
            <a:pPr indent="0" marL="0">
              <a:buNone/>
            </a:pPr>
            <a:r>
              <a:rPr lang="en-US" sz="1100" b="1" spc="200" kern="0" dirty="0">
                <a:solidFill>
                  <a:srgbClr val="38E0FF"/>
                </a:solidFill>
                <a:latin typeface="Arial" pitchFamily="34" charset="0"/>
                <a:ea typeface="Arial" pitchFamily="34" charset="-122"/>
                <a:cs typeface="Arial" pitchFamily="34" charset="-120"/>
              </a:rPr>
              <a:t>KẾT QUẢ · DATA TO REVENUE</a:t>
            </a:r>
            <a:endParaRPr lang="en-US" sz="1100" dirty="0"/>
          </a:p>
        </p:txBody>
      </p:sp>
      <p:sp>
        <p:nvSpPr>
          <p:cNvPr id="4" name="Text 2"/>
          <p:cNvSpPr/>
          <p:nvPr/>
        </p:nvSpPr>
        <p:spPr>
          <a:xfrm>
            <a:off x="548640" y="676656"/>
            <a:ext cx="8046720" cy="914400"/>
          </a:xfrm>
          <a:prstGeom prst="rect">
            <a:avLst/>
          </a:prstGeom>
          <a:noFill/>
          <a:ln/>
        </p:spPr>
        <p:txBody>
          <a:bodyPr wrap="square" lIns="0" tIns="0" rIns="0" bIns="0" rtlCol="0" anchor="t"/>
          <a:lstStyle/>
          <a:p>
            <a:pPr indent="0" marL="0">
              <a:lnSpc>
                <a:spcPct val="102000"/>
              </a:lnSpc>
              <a:buNone/>
            </a:pPr>
            <a:r>
              <a:rPr lang="en-US" sz="3000" b="1" dirty="0">
                <a:solidFill>
                  <a:srgbClr val="F6F8FF"/>
                </a:solidFill>
                <a:latin typeface="Arial" pitchFamily="34" charset="0"/>
                <a:ea typeface="Arial" pitchFamily="34" charset="-122"/>
                <a:cs typeface="Arial" pitchFamily="34" charset="-120"/>
              </a:rPr>
              <a:t>Studio nhỏ — </a:t>
            </a:r>
            <a:pPr indent="0" marL="0">
              <a:lnSpc>
                <a:spcPct val="102000"/>
              </a:lnSpc>
              <a:buNone/>
            </a:pPr>
            <a:r>
              <a:rPr lang="en-US" sz="3000" b="1" dirty="0">
                <a:solidFill>
                  <a:srgbClr val="38E0FF"/>
                </a:solidFill>
                <a:latin typeface="Arial" pitchFamily="34" charset="0"/>
                <a:ea typeface="Arial" pitchFamily="34" charset="-122"/>
                <a:cs typeface="Arial" pitchFamily="34" charset="-120"/>
              </a:rPr>
              <a:t>đòn bẩy lớn</a:t>
            </a:r>
            <a:endParaRPr lang="en-US" sz="3000" dirty="0"/>
          </a:p>
        </p:txBody>
      </p:sp>
      <p:sp>
        <p:nvSpPr>
          <p:cNvPr id="5" name="Shape 3"/>
          <p:cNvSpPr/>
          <p:nvPr/>
        </p:nvSpPr>
        <p:spPr>
          <a:xfrm>
            <a:off x="548640" y="2148840"/>
            <a:ext cx="3840480" cy="2286000"/>
          </a:xfrm>
          <a:prstGeom prst="roundRect">
            <a:avLst>
              <a:gd name="adj" fmla="val 6400"/>
            </a:avLst>
          </a:prstGeom>
          <a:solidFill>
            <a:srgbClr val="122A44"/>
          </a:solidFill>
          <a:ln w="12700">
            <a:solidFill>
              <a:srgbClr val="2E7FA0"/>
            </a:solidFill>
            <a:prstDash val="solid"/>
          </a:ln>
          <a:effectLst>
            <a:outerShdw sx="100000" sy="100000" kx="0" ky="0" algn="bl" rotWithShape="0" blurRad="101600" dist="25400" dir="5400000">
              <a:srgbClr val="000000">
                <a:alpha val="28000"/>
              </a:srgbClr>
            </a:outerShdw>
          </a:effectLst>
        </p:spPr>
      </p:sp>
      <p:sp>
        <p:nvSpPr>
          <p:cNvPr id="6" name="Text 4"/>
          <p:cNvSpPr/>
          <p:nvPr/>
        </p:nvSpPr>
        <p:spPr>
          <a:xfrm>
            <a:off x="841248" y="2423160"/>
            <a:ext cx="3255264" cy="1097280"/>
          </a:xfrm>
          <a:prstGeom prst="rect">
            <a:avLst/>
          </a:prstGeom>
          <a:noFill/>
          <a:ln/>
        </p:spPr>
        <p:txBody>
          <a:bodyPr wrap="square" lIns="0" tIns="0" rIns="0" bIns="0" rtlCol="0" anchor="ctr"/>
          <a:lstStyle/>
          <a:p>
            <a:pPr indent="0" marL="0">
              <a:buNone/>
            </a:pPr>
            <a:r>
              <a:rPr lang="en-US" sz="7800" b="1" dirty="0">
                <a:solidFill>
                  <a:srgbClr val="38E0FF"/>
                </a:solidFill>
                <a:latin typeface="Arial" pitchFamily="34" charset="0"/>
                <a:ea typeface="Arial" pitchFamily="34" charset="-122"/>
                <a:cs typeface="Arial" pitchFamily="34" charset="-120"/>
              </a:rPr>
              <a:t>10×</a:t>
            </a:r>
            <a:endParaRPr lang="en-US" sz="7800" dirty="0"/>
          </a:p>
        </p:txBody>
      </p:sp>
      <p:sp>
        <p:nvSpPr>
          <p:cNvPr id="7" name="Text 5"/>
          <p:cNvSpPr/>
          <p:nvPr/>
        </p:nvSpPr>
        <p:spPr>
          <a:xfrm>
            <a:off x="841248" y="3566160"/>
            <a:ext cx="3255264" cy="36576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output trên mỗi người</a:t>
            </a:r>
            <a:endParaRPr lang="en-US" sz="1800" dirty="0"/>
          </a:p>
        </p:txBody>
      </p:sp>
      <p:sp>
        <p:nvSpPr>
          <p:cNvPr id="8" name="Text 6"/>
          <p:cNvSpPr/>
          <p:nvPr/>
        </p:nvSpPr>
        <p:spPr>
          <a:xfrm>
            <a:off x="841248" y="3931920"/>
            <a:ext cx="3255264" cy="457200"/>
          </a:xfrm>
          <a:prstGeom prst="rect">
            <a:avLst/>
          </a:prstGeom>
          <a:noFill/>
          <a:ln/>
        </p:spPr>
        <p:txBody>
          <a:bodyPr wrap="square" lIns="0" tIns="0" rIns="0" bIns="0" rtlCol="0" anchor="ctr"/>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team giữ nguyên size — sản lượng gấp 10 lần nhờ AI chạy cả workflow</a:t>
            </a:r>
            <a:endParaRPr lang="en-US" sz="1150" dirty="0"/>
          </a:p>
        </p:txBody>
      </p:sp>
      <p:sp>
        <p:nvSpPr>
          <p:cNvPr id="9" name="Text 7"/>
          <p:cNvSpPr/>
          <p:nvPr/>
        </p:nvSpPr>
        <p:spPr>
          <a:xfrm>
            <a:off x="4846320" y="2148840"/>
            <a:ext cx="1371600" cy="502920"/>
          </a:xfrm>
          <a:prstGeom prst="rect">
            <a:avLst/>
          </a:prstGeom>
          <a:noFill/>
          <a:ln/>
        </p:spPr>
        <p:txBody>
          <a:bodyPr wrap="square" lIns="0" tIns="0" rIns="0" bIns="0" rtlCol="0" anchor="ctr"/>
          <a:lstStyle/>
          <a:p>
            <a:pPr indent="0" marL="0">
              <a:buNone/>
            </a:pPr>
            <a:r>
              <a:rPr lang="en-US" sz="3400" b="1" dirty="0">
                <a:solidFill>
                  <a:srgbClr val="38E0FF"/>
                </a:solidFill>
                <a:latin typeface="Arial" pitchFamily="34" charset="0"/>
                <a:ea typeface="Arial" pitchFamily="34" charset="-122"/>
                <a:cs typeface="Arial" pitchFamily="34" charset="-120"/>
              </a:rPr>
              <a:t>–70%</a:t>
            </a:r>
            <a:endParaRPr lang="en-US" sz="3400" dirty="0"/>
          </a:p>
        </p:txBody>
      </p:sp>
      <p:sp>
        <p:nvSpPr>
          <p:cNvPr id="10" name="Text 8"/>
          <p:cNvSpPr/>
          <p:nvPr/>
        </p:nvSpPr>
        <p:spPr>
          <a:xfrm>
            <a:off x="6309360" y="2148840"/>
            <a:ext cx="2286000" cy="640080"/>
          </a:xfrm>
          <a:prstGeom prst="rect">
            <a:avLst/>
          </a:prstGeom>
          <a:noFill/>
          <a:ln/>
        </p:spPr>
        <p:txBody>
          <a:bodyPr wrap="square" lIns="0" tIns="0" rIns="0" bIns="0" rtlCol="0" anchor="ctr"/>
          <a:lstStyle/>
          <a:p>
            <a:pPr indent="0" marL="0">
              <a:lnSpc>
                <a:spcPct val="110000"/>
              </a:lnSpc>
              <a:buNone/>
            </a:pPr>
            <a:r>
              <a:rPr lang="en-US" sz="1150" dirty="0">
                <a:solidFill>
                  <a:srgbClr val="9AA6C7"/>
                </a:solidFill>
                <a:latin typeface="Arial" pitchFamily="34" charset="0"/>
                <a:ea typeface="Arial" pitchFamily="34" charset="-122"/>
                <a:cs typeface="Arial" pitchFamily="34" charset="-120"/>
              </a:rPr>
              <a:t>thời gian từ ý tưởng đến bản chạy được</a:t>
            </a:r>
            <a:endParaRPr lang="en-US" sz="1150" dirty="0"/>
          </a:p>
        </p:txBody>
      </p:sp>
      <p:sp>
        <p:nvSpPr>
          <p:cNvPr id="11" name="Text 9"/>
          <p:cNvSpPr/>
          <p:nvPr/>
        </p:nvSpPr>
        <p:spPr>
          <a:xfrm>
            <a:off x="4846320" y="2916936"/>
            <a:ext cx="1371600" cy="502920"/>
          </a:xfrm>
          <a:prstGeom prst="rect">
            <a:avLst/>
          </a:prstGeom>
          <a:noFill/>
          <a:ln/>
        </p:spPr>
        <p:txBody>
          <a:bodyPr wrap="square" lIns="0" tIns="0" rIns="0" bIns="0" rtlCol="0" anchor="ctr"/>
          <a:lstStyle/>
          <a:p>
            <a:pPr indent="0" marL="0">
              <a:buNone/>
            </a:pPr>
            <a:r>
              <a:rPr lang="en-US" sz="3400" b="1" dirty="0">
                <a:solidFill>
                  <a:srgbClr val="38E0FF"/>
                </a:solidFill>
                <a:latin typeface="Arial" pitchFamily="34" charset="0"/>
                <a:ea typeface="Arial" pitchFamily="34" charset="-122"/>
                <a:cs typeface="Arial" pitchFamily="34" charset="-120"/>
              </a:rPr>
              <a:t>20+</a:t>
            </a:r>
            <a:endParaRPr lang="en-US" sz="3400" dirty="0"/>
          </a:p>
        </p:txBody>
      </p:sp>
      <p:sp>
        <p:nvSpPr>
          <p:cNvPr id="12" name="Text 10"/>
          <p:cNvSpPr/>
          <p:nvPr/>
        </p:nvSpPr>
        <p:spPr>
          <a:xfrm>
            <a:off x="6309360" y="2916936"/>
            <a:ext cx="2286000" cy="640080"/>
          </a:xfrm>
          <a:prstGeom prst="rect">
            <a:avLst/>
          </a:prstGeom>
          <a:noFill/>
          <a:ln/>
        </p:spPr>
        <p:txBody>
          <a:bodyPr wrap="square" lIns="0" tIns="0" rIns="0" bIns="0" rtlCol="0" anchor="ctr"/>
          <a:lstStyle/>
          <a:p>
            <a:pPr indent="0" marL="0">
              <a:lnSpc>
                <a:spcPct val="110000"/>
              </a:lnSpc>
              <a:buNone/>
            </a:pPr>
            <a:r>
              <a:rPr lang="en-US" sz="1150" dirty="0">
                <a:solidFill>
                  <a:srgbClr val="9AA6C7"/>
                </a:solidFill>
                <a:latin typeface="Arial" pitchFamily="34" charset="0"/>
                <a:ea typeface="Arial" pitchFamily="34" charset="-122"/>
                <a:cs typeface="Arial" pitchFamily="34" charset="-120"/>
              </a:rPr>
              <a:t>creative variants từ cùng một insight</a:t>
            </a:r>
            <a:endParaRPr lang="en-US" sz="1150" dirty="0"/>
          </a:p>
        </p:txBody>
      </p:sp>
      <p:sp>
        <p:nvSpPr>
          <p:cNvPr id="13" name="Text 11"/>
          <p:cNvSpPr/>
          <p:nvPr/>
        </p:nvSpPr>
        <p:spPr>
          <a:xfrm>
            <a:off x="4846320" y="3685032"/>
            <a:ext cx="1371600" cy="502920"/>
          </a:xfrm>
          <a:prstGeom prst="rect">
            <a:avLst/>
          </a:prstGeom>
          <a:noFill/>
          <a:ln/>
        </p:spPr>
        <p:txBody>
          <a:bodyPr wrap="square" lIns="0" tIns="0" rIns="0" bIns="0" rtlCol="0" anchor="ctr"/>
          <a:lstStyle/>
          <a:p>
            <a:pPr indent="0" marL="0">
              <a:buNone/>
            </a:pPr>
            <a:r>
              <a:rPr lang="en-US" sz="3400" b="1" dirty="0">
                <a:solidFill>
                  <a:srgbClr val="38E0FF"/>
                </a:solidFill>
                <a:latin typeface="Arial" pitchFamily="34" charset="0"/>
                <a:ea typeface="Arial" pitchFamily="34" charset="-122"/>
                <a:cs typeface="Arial" pitchFamily="34" charset="-120"/>
              </a:rPr>
              <a:t>–60%</a:t>
            </a:r>
            <a:endParaRPr lang="en-US" sz="3400" dirty="0"/>
          </a:p>
        </p:txBody>
      </p:sp>
      <p:sp>
        <p:nvSpPr>
          <p:cNvPr id="14" name="Text 12"/>
          <p:cNvSpPr/>
          <p:nvPr/>
        </p:nvSpPr>
        <p:spPr>
          <a:xfrm>
            <a:off x="6309360" y="3685032"/>
            <a:ext cx="2286000" cy="640080"/>
          </a:xfrm>
          <a:prstGeom prst="rect">
            <a:avLst/>
          </a:prstGeom>
          <a:noFill/>
          <a:ln/>
        </p:spPr>
        <p:txBody>
          <a:bodyPr wrap="square" lIns="0" tIns="0" rIns="0" bIns="0" rtlCol="0" anchor="ctr"/>
          <a:lstStyle/>
          <a:p>
            <a:pPr indent="0" marL="0">
              <a:lnSpc>
                <a:spcPct val="110000"/>
              </a:lnSpc>
              <a:buNone/>
            </a:pPr>
            <a:r>
              <a:rPr lang="en-US" sz="1150" dirty="0">
                <a:solidFill>
                  <a:srgbClr val="9AA6C7"/>
                </a:solidFill>
                <a:latin typeface="Arial" pitchFamily="34" charset="0"/>
                <a:ea typeface="Arial" pitchFamily="34" charset="-122"/>
                <a:cs typeface="Arial" pitchFamily="34" charset="-120"/>
              </a:rPr>
              <a:t>chi phí &amp; thời gian làm creative + QA</a:t>
            </a:r>
            <a:endParaRPr lang="en-US" sz="1150" dirty="0"/>
          </a:p>
        </p:txBody>
      </p:sp>
      <p:sp>
        <p:nvSpPr>
          <p:cNvPr id="16" name="Text 13"/>
          <p:cNvSpPr/>
          <p:nvPr/>
        </p:nvSpPr>
        <p:spPr>
          <a:xfrm>
            <a:off x="8321040" y="4828032"/>
            <a:ext cx="685800" cy="228600"/>
          </a:xfrm>
          <a:prstGeom prst="rect">
            <a:avLst/>
          </a:prstGeom>
          <a:noFill/>
          <a:ln/>
        </p:spPr>
        <p:txBody>
          <a:bodyPr wrap="square" lIns="0" tIns="0" rIns="0" bIns="0" rtlCol="0" anchor="ctr"/>
          <a:lstStyle/>
          <a:p>
            <a:pPr algn="r" indent="0" marL="0">
              <a:buNone/>
            </a:pPr>
            <a:r>
              <a:rPr lang="en-US" sz="900" dirty="0">
                <a:solidFill>
                  <a:srgbClr val="9AA6C7"/>
                </a:solidFill>
                <a:latin typeface="Arial" pitchFamily="34" charset="0"/>
                <a:ea typeface="Arial" pitchFamily="34" charset="-122"/>
                <a:cs typeface="Arial" pitchFamily="34" charset="-120"/>
              </a:rPr>
              <a:t>12 / 14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2A"/>
        </a:solidFill>
      </p:bgPr>
    </p:bg>
    <p:spTree>
      <p:nvGrpSpPr>
        <p:cNvPr id="1" name=""/>
        <p:cNvGrpSpPr/>
        <p:nvPr/>
      </p:nvGrpSpPr>
      <p:grpSpPr>
        <a:xfrm>
          <a:off x="0" y="0"/>
          <a:ext cx="0" cy="0"/>
          <a:chOff x="0" y="0"/>
          <a:chExt cx="0" cy="0"/>
        </a:xfrm>
      </p:grpSpPr>
      <p:sp>
        <p:nvSpPr>
          <p:cNvPr id="2" name="Shape 0"/>
          <p:cNvSpPr/>
          <p:nvPr/>
        </p:nvSpPr>
        <p:spPr>
          <a:xfrm>
            <a:off x="548640" y="402336"/>
            <a:ext cx="91440" cy="91440"/>
          </a:xfrm>
          <a:prstGeom prst="ellipse">
            <a:avLst/>
          </a:prstGeom>
          <a:solidFill>
            <a:srgbClr val="38E0FF"/>
          </a:solidFill>
          <a:ln/>
        </p:spPr>
      </p:sp>
      <p:sp>
        <p:nvSpPr>
          <p:cNvPr id="3" name="Text 1"/>
          <p:cNvSpPr/>
          <p:nvPr/>
        </p:nvSpPr>
        <p:spPr>
          <a:xfrm>
            <a:off x="713232" y="310896"/>
            <a:ext cx="7315200" cy="274320"/>
          </a:xfrm>
          <a:prstGeom prst="rect">
            <a:avLst/>
          </a:prstGeom>
          <a:noFill/>
          <a:ln/>
        </p:spPr>
        <p:txBody>
          <a:bodyPr wrap="square" lIns="0" tIns="0" rIns="0" bIns="0" rtlCol="0" anchor="ctr"/>
          <a:lstStyle/>
          <a:p>
            <a:pPr indent="0" marL="0">
              <a:buNone/>
            </a:pPr>
            <a:r>
              <a:rPr lang="en-US" sz="1100" b="1" spc="200" kern="0" dirty="0">
                <a:solidFill>
                  <a:srgbClr val="38E0FF"/>
                </a:solidFill>
                <a:latin typeface="Arial" pitchFamily="34" charset="0"/>
                <a:ea typeface="Arial" pitchFamily="34" charset="-122"/>
                <a:cs typeface="Arial" pitchFamily="34" charset="-120"/>
              </a:rPr>
              <a:t>3 BÀI HỌC</a:t>
            </a:r>
            <a:endParaRPr lang="en-US" sz="1100" dirty="0"/>
          </a:p>
        </p:txBody>
      </p:sp>
      <p:sp>
        <p:nvSpPr>
          <p:cNvPr id="4" name="Text 2"/>
          <p:cNvSpPr/>
          <p:nvPr/>
        </p:nvSpPr>
        <p:spPr>
          <a:xfrm>
            <a:off x="548640" y="676656"/>
            <a:ext cx="8046720" cy="914400"/>
          </a:xfrm>
          <a:prstGeom prst="rect">
            <a:avLst/>
          </a:prstGeom>
          <a:noFill/>
          <a:ln/>
        </p:spPr>
        <p:txBody>
          <a:bodyPr wrap="square" lIns="0" tIns="0" rIns="0" bIns="0" rtlCol="0" anchor="t"/>
          <a:lstStyle/>
          <a:p>
            <a:pPr indent="0" marL="0">
              <a:lnSpc>
                <a:spcPct val="102000"/>
              </a:lnSpc>
              <a:buNone/>
            </a:pPr>
            <a:r>
              <a:rPr lang="en-US" sz="3000" b="1" dirty="0">
                <a:solidFill>
                  <a:srgbClr val="F6F8FF"/>
                </a:solidFill>
                <a:latin typeface="Arial" pitchFamily="34" charset="0"/>
                <a:ea typeface="Arial" pitchFamily="34" charset="-122"/>
                <a:cs typeface="Arial" pitchFamily="34" charset="-120"/>
              </a:rPr>
              <a:t>Nếu bạn muốn áp dụng</a:t>
            </a:r>
            <a:endParaRPr lang="en-US" sz="3000" dirty="0"/>
          </a:p>
        </p:txBody>
      </p:sp>
      <p:sp>
        <p:nvSpPr>
          <p:cNvPr id="5" name="Shape 3"/>
          <p:cNvSpPr/>
          <p:nvPr/>
        </p:nvSpPr>
        <p:spPr>
          <a:xfrm>
            <a:off x="548640" y="2011680"/>
            <a:ext cx="2499360" cy="2286000"/>
          </a:xfrm>
          <a:prstGeom prst="roundRect">
            <a:avLst>
              <a:gd name="adj" fmla="val 5200"/>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6" name="Text 4"/>
          <p:cNvSpPr/>
          <p:nvPr/>
        </p:nvSpPr>
        <p:spPr>
          <a:xfrm>
            <a:off x="768096" y="2194560"/>
            <a:ext cx="2060448" cy="219456"/>
          </a:xfrm>
          <a:prstGeom prst="rect">
            <a:avLst/>
          </a:prstGeom>
          <a:noFill/>
          <a:ln/>
        </p:spPr>
        <p:txBody>
          <a:bodyPr wrap="square" lIns="0" tIns="0" rIns="0" bIns="0" rtlCol="0" anchor="ctr"/>
          <a:lstStyle/>
          <a:p>
            <a:pPr indent="0" marL="0">
              <a:buNone/>
            </a:pPr>
            <a:r>
              <a:rPr lang="en-US" sz="1000" b="1" spc="100" kern="0" dirty="0">
                <a:solidFill>
                  <a:srgbClr val="38E0FF"/>
                </a:solidFill>
                <a:latin typeface="Arial" pitchFamily="34" charset="0"/>
                <a:ea typeface="Arial" pitchFamily="34" charset="-122"/>
                <a:cs typeface="Arial" pitchFamily="34" charset="-120"/>
              </a:rPr>
              <a:t>01</a:t>
            </a:r>
            <a:endParaRPr lang="en-US" sz="1000" dirty="0"/>
          </a:p>
        </p:txBody>
      </p:sp>
      <p:sp>
        <p:nvSpPr>
          <p:cNvPr id="7" name="Text 5"/>
          <p:cNvSpPr/>
          <p:nvPr/>
        </p:nvSpPr>
        <p:spPr>
          <a:xfrm>
            <a:off x="768096" y="2468880"/>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AI thay công đoạn — người giữ quyết định</a:t>
            </a:r>
            <a:endParaRPr lang="en-US" sz="1400" dirty="0"/>
          </a:p>
        </p:txBody>
      </p:sp>
      <p:sp>
        <p:nvSpPr>
          <p:cNvPr id="8" name="Text 6"/>
          <p:cNvSpPr/>
          <p:nvPr/>
        </p:nvSpPr>
        <p:spPr>
          <a:xfrm>
            <a:off x="768096" y="3072384"/>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AI dựng 10 phương án, con người chọn cái đúng gu &amp; đúng thương hiệu.</a:t>
            </a:r>
            <a:endParaRPr lang="en-US" sz="1150" dirty="0"/>
          </a:p>
        </p:txBody>
      </p:sp>
      <p:sp>
        <p:nvSpPr>
          <p:cNvPr id="9" name="Shape 7"/>
          <p:cNvSpPr/>
          <p:nvPr/>
        </p:nvSpPr>
        <p:spPr>
          <a:xfrm>
            <a:off x="3322320" y="2011680"/>
            <a:ext cx="2499360" cy="2286000"/>
          </a:xfrm>
          <a:prstGeom prst="roundRect">
            <a:avLst>
              <a:gd name="adj" fmla="val 5200"/>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10" name="Text 8"/>
          <p:cNvSpPr/>
          <p:nvPr/>
        </p:nvSpPr>
        <p:spPr>
          <a:xfrm>
            <a:off x="3541776" y="2194560"/>
            <a:ext cx="2060448" cy="219456"/>
          </a:xfrm>
          <a:prstGeom prst="rect">
            <a:avLst/>
          </a:prstGeom>
          <a:noFill/>
          <a:ln/>
        </p:spPr>
        <p:txBody>
          <a:bodyPr wrap="square" lIns="0" tIns="0" rIns="0" bIns="0" rtlCol="0" anchor="ctr"/>
          <a:lstStyle/>
          <a:p>
            <a:pPr indent="0" marL="0">
              <a:buNone/>
            </a:pPr>
            <a:r>
              <a:rPr lang="en-US" sz="1000" b="1" spc="100" kern="0" dirty="0">
                <a:solidFill>
                  <a:srgbClr val="38E0FF"/>
                </a:solidFill>
                <a:latin typeface="Arial" pitchFamily="34" charset="0"/>
                <a:ea typeface="Arial" pitchFamily="34" charset="-122"/>
                <a:cs typeface="Arial" pitchFamily="34" charset="-120"/>
              </a:rPr>
              <a:t>02</a:t>
            </a:r>
            <a:endParaRPr lang="en-US" sz="1000" dirty="0"/>
          </a:p>
        </p:txBody>
      </p:sp>
      <p:sp>
        <p:nvSpPr>
          <p:cNvPr id="11" name="Text 9"/>
          <p:cNvSpPr/>
          <p:nvPr/>
        </p:nvSpPr>
        <p:spPr>
          <a:xfrm>
            <a:off x="3541776" y="2468880"/>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Workflow &gt; Model</a:t>
            </a:r>
            <a:endParaRPr lang="en-US" sz="1400" dirty="0"/>
          </a:p>
        </p:txBody>
      </p:sp>
      <p:sp>
        <p:nvSpPr>
          <p:cNvPr id="12" name="Text 10"/>
          <p:cNvSpPr/>
          <p:nvPr/>
        </p:nvSpPr>
        <p:spPr>
          <a:xfrm>
            <a:off x="3541776" y="2852928"/>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Giá trị nằm ở vòng lặp tự sửa và cách nối các bước, không phải một prompt lẻ.</a:t>
            </a:r>
            <a:endParaRPr lang="en-US" sz="1150" dirty="0"/>
          </a:p>
        </p:txBody>
      </p:sp>
      <p:sp>
        <p:nvSpPr>
          <p:cNvPr id="13" name="Shape 11"/>
          <p:cNvSpPr/>
          <p:nvPr/>
        </p:nvSpPr>
        <p:spPr>
          <a:xfrm>
            <a:off x="6096000" y="2011680"/>
            <a:ext cx="2499360" cy="2286000"/>
          </a:xfrm>
          <a:prstGeom prst="roundRect">
            <a:avLst>
              <a:gd name="adj" fmla="val 5200"/>
            </a:avLst>
          </a:prstGeom>
          <a:solidFill>
            <a:srgbClr val="141A3C"/>
          </a:solidFill>
          <a:ln w="12700">
            <a:solidFill>
              <a:srgbClr val="2A3358"/>
            </a:solidFill>
            <a:prstDash val="solid"/>
          </a:ln>
          <a:effectLst>
            <a:outerShdw sx="100000" sy="100000" kx="0" ky="0" algn="bl" rotWithShape="0" blurRad="101600" dist="25400" dir="5400000">
              <a:srgbClr val="000000">
                <a:alpha val="28000"/>
              </a:srgbClr>
            </a:outerShdw>
          </a:effectLst>
        </p:spPr>
      </p:sp>
      <p:sp>
        <p:nvSpPr>
          <p:cNvPr id="14" name="Text 12"/>
          <p:cNvSpPr/>
          <p:nvPr/>
        </p:nvSpPr>
        <p:spPr>
          <a:xfrm>
            <a:off x="6315456" y="2194560"/>
            <a:ext cx="2060448" cy="219456"/>
          </a:xfrm>
          <a:prstGeom prst="rect">
            <a:avLst/>
          </a:prstGeom>
          <a:noFill/>
          <a:ln/>
        </p:spPr>
        <p:txBody>
          <a:bodyPr wrap="square" lIns="0" tIns="0" rIns="0" bIns="0" rtlCol="0" anchor="ctr"/>
          <a:lstStyle/>
          <a:p>
            <a:pPr indent="0" marL="0">
              <a:buNone/>
            </a:pPr>
            <a:r>
              <a:rPr lang="en-US" sz="1000" b="1" spc="100" kern="0" dirty="0">
                <a:solidFill>
                  <a:srgbClr val="38E0FF"/>
                </a:solidFill>
                <a:latin typeface="Arial" pitchFamily="34" charset="0"/>
                <a:ea typeface="Arial" pitchFamily="34" charset="-122"/>
                <a:cs typeface="Arial" pitchFamily="34" charset="-120"/>
              </a:rPr>
              <a:t>03</a:t>
            </a:r>
            <a:endParaRPr lang="en-US" sz="1000" dirty="0"/>
          </a:p>
        </p:txBody>
      </p:sp>
      <p:sp>
        <p:nvSpPr>
          <p:cNvPr id="15" name="Text 13"/>
          <p:cNvSpPr/>
          <p:nvPr/>
        </p:nvSpPr>
        <p:spPr>
          <a:xfrm>
            <a:off x="6315456" y="2468880"/>
            <a:ext cx="2060448" cy="566928"/>
          </a:xfrm>
          <a:prstGeom prst="rect">
            <a:avLst/>
          </a:prstGeom>
          <a:noFill/>
          <a:ln/>
        </p:spPr>
        <p:txBody>
          <a:bodyPr wrap="square" lIns="0" tIns="0" rIns="0" bIns="0" rtlCol="0" anchor="t"/>
          <a:lstStyle/>
          <a:p>
            <a:pPr indent="0" marL="0">
              <a:lnSpc>
                <a:spcPct val="102000"/>
              </a:lnSpc>
              <a:buNone/>
            </a:pPr>
            <a:r>
              <a:rPr lang="en-US" sz="1400" b="1" dirty="0">
                <a:solidFill>
                  <a:srgbClr val="F6F8FF"/>
                </a:solidFill>
                <a:latin typeface="Arial" pitchFamily="34" charset="0"/>
                <a:ea typeface="Arial" pitchFamily="34" charset="-122"/>
                <a:cs typeface="Arial" pitchFamily="34" charset="-120"/>
              </a:rPr>
              <a:t>Bắt đầu từ cổ chai đắt nhất</a:t>
            </a:r>
            <a:endParaRPr lang="en-US" sz="1400" dirty="0"/>
          </a:p>
        </p:txBody>
      </p:sp>
      <p:sp>
        <p:nvSpPr>
          <p:cNvPr id="16" name="Text 14"/>
          <p:cNvSpPr/>
          <p:nvPr/>
        </p:nvSpPr>
        <p:spPr>
          <a:xfrm>
            <a:off x="6315456" y="3072384"/>
            <a:ext cx="2060448" cy="822960"/>
          </a:xfrm>
          <a:prstGeom prst="rect">
            <a:avLst/>
          </a:prstGeom>
          <a:noFill/>
          <a:ln/>
        </p:spPr>
        <p:txBody>
          <a:bodyPr wrap="square" lIns="0" tIns="0" rIns="0" bIns="0" rtlCol="0" anchor="t"/>
          <a:lstStyle/>
          <a:p>
            <a:pPr indent="0" marL="0">
              <a:lnSpc>
                <a:spcPct val="112000"/>
              </a:lnSpc>
              <a:buNone/>
            </a:pPr>
            <a:r>
              <a:rPr lang="en-US" sz="1150" dirty="0">
                <a:solidFill>
                  <a:srgbClr val="9AA6C7"/>
                </a:solidFill>
                <a:latin typeface="Arial" pitchFamily="34" charset="0"/>
                <a:ea typeface="Arial" pitchFamily="34" charset="-122"/>
                <a:cs typeface="Arial" pitchFamily="34" charset="-120"/>
              </a:rPr>
              <a:t>Đừng tự động hoá lung tung. Chọn đúng nỗi đau tốn tiền nhất trước.</a:t>
            </a:r>
            <a:endParaRPr lang="en-US" sz="1150" dirty="0"/>
          </a:p>
        </p:txBody>
      </p:sp>
      <p:sp>
        <p:nvSpPr>
          <p:cNvPr id="18" name="Text 15"/>
          <p:cNvSpPr/>
          <p:nvPr/>
        </p:nvSpPr>
        <p:spPr>
          <a:xfrm>
            <a:off x="8321040" y="4828032"/>
            <a:ext cx="685800" cy="228600"/>
          </a:xfrm>
          <a:prstGeom prst="rect">
            <a:avLst/>
          </a:prstGeom>
          <a:noFill/>
          <a:ln/>
        </p:spPr>
        <p:txBody>
          <a:bodyPr wrap="square" lIns="0" tIns="0" rIns="0" bIns="0" rtlCol="0" anchor="ctr"/>
          <a:lstStyle/>
          <a:p>
            <a:pPr algn="r" indent="0" marL="0">
              <a:buNone/>
            </a:pPr>
            <a:r>
              <a:rPr lang="en-US" sz="900" dirty="0">
                <a:solidFill>
                  <a:srgbClr val="9AA6C7"/>
                </a:solidFill>
                <a:latin typeface="Arial" pitchFamily="34" charset="0"/>
                <a:ea typeface="Arial" pitchFamily="34" charset="-122"/>
                <a:cs typeface="Arial" pitchFamily="34" charset="-120"/>
              </a:rPr>
              <a:t>13 / 14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2A"/>
        </a:solidFill>
      </p:bgPr>
    </p:bg>
    <p:spTree>
      <p:nvGrpSpPr>
        <p:cNvPr id="1" name=""/>
        <p:cNvGrpSpPr/>
        <p:nvPr/>
      </p:nvGrpSpPr>
      <p:grpSpPr>
        <a:xfrm>
          <a:off x="0" y="0"/>
          <a:ext cx="0" cy="0"/>
          <a:chOff x="0" y="0"/>
          <a:chExt cx="0" cy="0"/>
        </a:xfrm>
      </p:grpSpPr>
      <p:sp>
        <p:nvSpPr>
          <p:cNvPr id="2" name="Shape 0"/>
          <p:cNvSpPr/>
          <p:nvPr/>
        </p:nvSpPr>
        <p:spPr>
          <a:xfrm>
            <a:off x="548640" y="402336"/>
            <a:ext cx="91440" cy="91440"/>
          </a:xfrm>
          <a:prstGeom prst="ellipse">
            <a:avLst/>
          </a:prstGeom>
          <a:solidFill>
            <a:srgbClr val="38E0FF"/>
          </a:solidFill>
          <a:ln/>
        </p:spPr>
      </p:sp>
      <p:sp>
        <p:nvSpPr>
          <p:cNvPr id="3" name="Text 1"/>
          <p:cNvSpPr/>
          <p:nvPr/>
        </p:nvSpPr>
        <p:spPr>
          <a:xfrm>
            <a:off x="713232" y="310896"/>
            <a:ext cx="7315200" cy="274320"/>
          </a:xfrm>
          <a:prstGeom prst="rect">
            <a:avLst/>
          </a:prstGeom>
          <a:noFill/>
          <a:ln/>
        </p:spPr>
        <p:txBody>
          <a:bodyPr wrap="square" lIns="0" tIns="0" rIns="0" bIns="0" rtlCol="0" anchor="ctr"/>
          <a:lstStyle/>
          <a:p>
            <a:pPr indent="0" marL="0">
              <a:buNone/>
            </a:pPr>
            <a:r>
              <a:rPr lang="en-US" sz="1100" b="1" spc="200" kern="0" dirty="0">
                <a:solidFill>
                  <a:srgbClr val="38E0FF"/>
                </a:solidFill>
                <a:latin typeface="Arial" pitchFamily="34" charset="0"/>
                <a:ea typeface="Arial" pitchFamily="34" charset="-122"/>
                <a:cs typeface="Arial" pitchFamily="34" charset="-120"/>
              </a:rPr>
              <a:t>CẢM ƠN</a:t>
            </a:r>
            <a:endParaRPr lang="en-US" sz="1100" dirty="0"/>
          </a:p>
        </p:txBody>
      </p:sp>
      <p:sp>
        <p:nvSpPr>
          <p:cNvPr id="4" name="Text 2"/>
          <p:cNvSpPr/>
          <p:nvPr/>
        </p:nvSpPr>
        <p:spPr>
          <a:xfrm>
            <a:off x="548640" y="1234440"/>
            <a:ext cx="8046720" cy="914400"/>
          </a:xfrm>
          <a:prstGeom prst="rect">
            <a:avLst/>
          </a:prstGeom>
          <a:noFill/>
          <a:ln/>
        </p:spPr>
        <p:txBody>
          <a:bodyPr wrap="square" lIns="0" tIns="0" rIns="0" bIns="0" rtlCol="0" anchor="t"/>
          <a:lstStyle/>
          <a:p>
            <a:pPr indent="0" marL="0">
              <a:lnSpc>
                <a:spcPct val="102000"/>
              </a:lnSpc>
              <a:buNone/>
            </a:pPr>
            <a:r>
              <a:rPr lang="en-US" sz="4000" b="1" dirty="0">
                <a:solidFill>
                  <a:srgbClr val="F6F8FF"/>
                </a:solidFill>
                <a:latin typeface="Arial" pitchFamily="34" charset="0"/>
                <a:ea typeface="Arial" pitchFamily="34" charset="-122"/>
                <a:cs typeface="Arial" pitchFamily="34" charset="-120"/>
              </a:rPr>
              <a:t>Studio nhỏ, </a:t>
            </a:r>
            <a:endParaRPr lang="en-US" sz="4000" dirty="0"/>
          </a:p>
          <a:p>
            <a:pPr indent="0" marL="0">
              <a:lnSpc>
                <a:spcPct val="102000"/>
              </a:lnSpc>
              <a:buNone/>
            </a:pPr>
            <a:r>
              <a:rPr lang="en-US" sz="4000" b="1" dirty="0">
                <a:solidFill>
                  <a:srgbClr val="38E0FF"/>
                </a:solidFill>
                <a:latin typeface="Arial" pitchFamily="34" charset="0"/>
                <a:ea typeface="Arial" pitchFamily="34" charset="-122"/>
                <a:cs typeface="Arial" pitchFamily="34" charset="-120"/>
              </a:rPr>
              <a:t>đòn bẩy AI lớn.</a:t>
            </a:r>
            <a:endParaRPr lang="en-US" sz="4000" dirty="0"/>
          </a:p>
        </p:txBody>
      </p:sp>
      <p:sp>
        <p:nvSpPr>
          <p:cNvPr id="5" name="Text 3"/>
          <p:cNvSpPr/>
          <p:nvPr/>
        </p:nvSpPr>
        <p:spPr>
          <a:xfrm>
            <a:off x="548640" y="2788920"/>
            <a:ext cx="7680960" cy="777240"/>
          </a:xfrm>
          <a:prstGeom prst="rect">
            <a:avLst/>
          </a:prstGeom>
          <a:noFill/>
          <a:ln/>
        </p:spPr>
        <p:txBody>
          <a:bodyPr wrap="square" lIns="0" tIns="0" rIns="0" bIns="0" rtlCol="0" anchor="t"/>
          <a:lstStyle/>
          <a:p>
            <a:pPr indent="0" marL="0">
              <a:lnSpc>
                <a:spcPct val="118000"/>
              </a:lnSpc>
              <a:buNone/>
            </a:pPr>
            <a:r>
              <a:rPr lang="en-US" sz="1350" dirty="0">
                <a:solidFill>
                  <a:srgbClr val="9AA6C7"/>
                </a:solidFill>
                <a:latin typeface="Arial" pitchFamily="34" charset="0"/>
                <a:ea typeface="Arial" pitchFamily="34" charset="-122"/>
                <a:cs typeface="Arial" pitchFamily="34" charset="-120"/>
              </a:rPr>
              <a:t>Nếu bạn là studio, agency hay đang xây tool AI — gặp mình ở phần networking để nói tiếp.</a:t>
            </a:r>
            <a:endParaRPr lang="en-US" sz="1350" dirty="0"/>
          </a:p>
        </p:txBody>
      </p:sp>
      <p:sp>
        <p:nvSpPr>
          <p:cNvPr id="6" name="Text 4"/>
          <p:cNvSpPr/>
          <p:nvPr/>
        </p:nvSpPr>
        <p:spPr>
          <a:xfrm>
            <a:off x="548640" y="3977640"/>
            <a:ext cx="5029200" cy="822960"/>
          </a:xfrm>
          <a:prstGeom prst="rect">
            <a:avLst/>
          </a:prstGeom>
          <a:noFill/>
          <a:ln/>
        </p:spPr>
        <p:txBody>
          <a:bodyPr wrap="square" lIns="0" tIns="0" rIns="0" bIns="0" rtlCol="0" anchor="t"/>
          <a:lstStyle/>
          <a:p>
            <a:pPr indent="0" marL="0">
              <a:lnSpc>
                <a:spcPct val="120000"/>
              </a:lnSpc>
              <a:buNone/>
            </a:pPr>
            <a:r>
              <a:rPr lang="en-US" sz="1700" b="1" dirty="0">
                <a:solidFill>
                  <a:srgbClr val="F6F8FF"/>
                </a:solidFill>
                <a:latin typeface="Arial" pitchFamily="34" charset="0"/>
                <a:ea typeface="Arial" pitchFamily="34" charset="-122"/>
                <a:cs typeface="Arial" pitchFamily="34" charset="-120"/>
              </a:rPr>
              <a:t>Lê Khánh Thông</a:t>
            </a:r>
            <a:endParaRPr lang="en-US" sz="1700" dirty="0"/>
          </a:p>
          <a:p>
            <a:pPr indent="0" marL="0">
              <a:lnSpc>
                <a:spcPct val="120000"/>
              </a:lnSpc>
              <a:buNone/>
            </a:pPr>
            <a:r>
              <a:rPr lang="en-US" sz="1200" dirty="0">
                <a:solidFill>
                  <a:srgbClr val="9AA6C7"/>
                </a:solidFill>
                <a:latin typeface="Arial" pitchFamily="34" charset="0"/>
                <a:ea typeface="Arial" pitchFamily="34" charset="-122"/>
                <a:cs typeface="Arial" pitchFamily="34" charset="-120"/>
              </a:rPr>
              <a:t>CEO &amp; Founder · EXO Technologies Global</a:t>
            </a:r>
            <a:endParaRPr lang="en-US" sz="1700" dirty="0"/>
          </a:p>
          <a:p>
            <a:pPr indent="0" marL="0">
              <a:lnSpc>
                <a:spcPct val="120000"/>
              </a:lnSpc>
              <a:buNone/>
            </a:pPr>
            <a:r>
              <a:rPr lang="en-US" sz="1200" dirty="0">
                <a:solidFill>
                  <a:srgbClr val="DFE6FF"/>
                </a:solidFill>
                <a:latin typeface="Arial" pitchFamily="34" charset="0"/>
                <a:ea typeface="Arial" pitchFamily="34" charset="-122"/>
                <a:cs typeface="Arial" pitchFamily="34" charset="-120"/>
              </a:rPr>
              <a:t>lkt@exo.ltd · exo.ltd</a:t>
            </a:r>
            <a:endParaRPr lang="en-US" sz="1700" dirty="0"/>
          </a:p>
        </p:txBody>
      </p:sp>
      <p:sp>
        <p:nvSpPr>
          <p:cNvPr id="7" name="Text 5"/>
          <p:cNvSpPr/>
          <p:nvPr/>
        </p:nvSpPr>
        <p:spPr>
          <a:xfrm>
            <a:off x="4572000" y="4206240"/>
            <a:ext cx="4023360" cy="640080"/>
          </a:xfrm>
          <a:prstGeom prst="rect">
            <a:avLst/>
          </a:prstGeom>
          <a:noFill/>
          <a:ln/>
        </p:spPr>
        <p:txBody>
          <a:bodyPr wrap="square" lIns="0" tIns="0" rIns="0" bIns="0" rtlCol="0" anchor="t"/>
          <a:lstStyle/>
          <a:p>
            <a:pPr algn="r" indent="0" marL="0">
              <a:lnSpc>
                <a:spcPct val="120000"/>
              </a:lnSpc>
              <a:buNone/>
            </a:pPr>
            <a:r>
              <a:rPr lang="en-US" sz="1100" dirty="0">
                <a:solidFill>
                  <a:srgbClr val="9AA6C7"/>
                </a:solidFill>
                <a:latin typeface="Arial" pitchFamily="34" charset="0"/>
                <a:ea typeface="Arial" pitchFamily="34" charset="-122"/>
                <a:cs typeface="Arial" pitchFamily="34" charset="-120"/>
              </a:rPr>
              <a:t>Cảm ơn nhà tổ chức</a:t>
            </a:r>
            <a:endParaRPr lang="en-US" sz="1100" dirty="0"/>
          </a:p>
          <a:p>
            <a:pPr algn="r" indent="0" marL="0">
              <a:lnSpc>
                <a:spcPct val="120000"/>
              </a:lnSpc>
              <a:buNone/>
            </a:pPr>
            <a:r>
              <a:rPr lang="en-US" sz="1100" b="1" dirty="0">
                <a:solidFill>
                  <a:srgbClr val="DFE6FF"/>
                </a:solidFill>
                <a:latin typeface="Arial" pitchFamily="34" charset="0"/>
                <a:ea typeface="Arial" pitchFamily="34" charset="-122"/>
                <a:cs typeface="Arial" pitchFamily="34" charset="-120"/>
              </a:rPr>
              <a:t>BytePlus · SocialPeta · ThinkingAI</a:t>
            </a:r>
            <a:endParaRPr lang="en-US" sz="1100" dirty="0"/>
          </a:p>
        </p:txBody>
      </p:sp>
      <p:sp>
        <p:nvSpPr>
          <p:cNvPr id="9" name="Text 6"/>
          <p:cNvSpPr/>
          <p:nvPr/>
        </p:nvSpPr>
        <p:spPr>
          <a:xfrm>
            <a:off x="8321040" y="4828032"/>
            <a:ext cx="685800" cy="228600"/>
          </a:xfrm>
          <a:prstGeom prst="rect">
            <a:avLst/>
          </a:prstGeom>
          <a:noFill/>
          <a:ln/>
        </p:spPr>
        <p:txBody>
          <a:bodyPr wrap="square" lIns="0" tIns="0" rIns="0" bIns="0" rtlCol="0" anchor="ctr"/>
          <a:lstStyle/>
          <a:p>
            <a:pPr algn="r" indent="0" marL="0">
              <a:buNone/>
            </a:pPr>
            <a:r>
              <a:rPr lang="en-US" sz="900" dirty="0">
                <a:solidFill>
                  <a:srgbClr val="9AA6C7"/>
                </a:solidFill>
                <a:latin typeface="Arial" pitchFamily="34" charset="0"/>
                <a:ea typeface="Arial" pitchFamily="34" charset="-122"/>
                <a:cs typeface="Arial" pitchFamily="34" charset="-120"/>
              </a:rPr>
              <a:t>14 /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Action — EXO Technologies Global</dc:title>
  <dc:subject>PptxGenJS Presentation</dc:subject>
  <dc:creator>Lê Khánh Thông</dc:creator>
  <cp:lastModifiedBy>Lê Khánh Thông</cp:lastModifiedBy>
  <cp:revision>1</cp:revision>
  <dcterms:created xsi:type="dcterms:W3CDTF">2026-07-10T05:55:57Z</dcterms:created>
  <dcterms:modified xsi:type="dcterms:W3CDTF">2026-07-10T05:55:57Z</dcterms:modified>
</cp:coreProperties>
</file>